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8288000" cy="10287000"/>
  <p:notesSz cx="6858000" cy="9144000"/>
  <p:embeddedFontLst>
    <p:embeddedFont>
      <p:font typeface="Alegreya Sans SC Bold" panose="020B0604020202020204" charset="0"/>
      <p:regular r:id="rId27"/>
    </p:embeddedFont>
    <p:embeddedFont>
      <p:font typeface="Barabara" panose="020B0604020202020204" charset="0"/>
      <p:regular r:id="rId28"/>
    </p:embeddedFont>
    <p:embeddedFont>
      <p:font typeface="Garet" panose="020B0604020202020204" charset="0"/>
      <p:regular r:id="rId29"/>
    </p:embeddedFont>
    <p:embeddedFont>
      <p:font typeface="Gill Sans Display Ultra-Bold" panose="020B0604020202020204" charset="0"/>
      <p:regular r:id="rId30"/>
    </p:embeddedFont>
    <p:embeddedFont>
      <p:font typeface="Paalalabas Wide" panose="020B0604020202020204" charset="0"/>
      <p:regular r:id="rId31"/>
    </p:embeddedFont>
    <p:embeddedFont>
      <p:font typeface="Times New Roman Bold" panose="02020803070505020304" pitchFamily="18" charset="0"/>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7.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7.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7.sv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16331" y="114296"/>
            <a:ext cx="2879271" cy="10172701"/>
          </a:xfrm>
          <a:custGeom>
            <a:avLst/>
            <a:gdLst/>
            <a:ahLst/>
            <a:cxnLst/>
            <a:rect l="l" t="t" r="r" b="b"/>
            <a:pathLst>
              <a:path w="5606758" h="7366156">
                <a:moveTo>
                  <a:pt x="0" y="0"/>
                </a:moveTo>
                <a:lnTo>
                  <a:pt x="5606757" y="0"/>
                </a:lnTo>
                <a:lnTo>
                  <a:pt x="5606757" y="7366156"/>
                </a:lnTo>
                <a:lnTo>
                  <a:pt x="0" y="73661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a:extLst>
              <a:ext uri="{C183D7F6-B498-43B3-948B-1728B52AA6E4}">
                <adec:decorative xmlns:adec="http://schemas.microsoft.com/office/drawing/2017/decorative" val="1"/>
              </a:ext>
            </a:extLst>
          </p:cNvPr>
          <p:cNvSpPr/>
          <p:nvPr/>
        </p:nvSpPr>
        <p:spPr>
          <a:xfrm rot="-10800000">
            <a:off x="15359739" y="114299"/>
            <a:ext cx="2879271" cy="10172701"/>
          </a:xfrm>
          <a:custGeom>
            <a:avLst/>
            <a:gdLst/>
            <a:ahLst/>
            <a:cxnLst/>
            <a:rect l="l" t="t" r="r" b="b"/>
            <a:pathLst>
              <a:path w="5208407" h="6842803">
                <a:moveTo>
                  <a:pt x="0" y="0"/>
                </a:moveTo>
                <a:lnTo>
                  <a:pt x="5208407" y="0"/>
                </a:lnTo>
                <a:lnTo>
                  <a:pt x="5208407" y="6842803"/>
                </a:lnTo>
                <a:lnTo>
                  <a:pt x="0" y="68428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124942" y="876300"/>
            <a:ext cx="2038117" cy="2038117"/>
          </a:xfrm>
          <a:custGeom>
            <a:avLst/>
            <a:gdLst/>
            <a:ahLst/>
            <a:cxnLst/>
            <a:rect l="l" t="t" r="r" b="b"/>
            <a:pathLst>
              <a:path w="2038117" h="2038117">
                <a:moveTo>
                  <a:pt x="0" y="0"/>
                </a:moveTo>
                <a:lnTo>
                  <a:pt x="2038117" y="0"/>
                </a:lnTo>
                <a:lnTo>
                  <a:pt x="2038117" y="2038116"/>
                </a:lnTo>
                <a:lnTo>
                  <a:pt x="0" y="2038116"/>
                </a:lnTo>
                <a:lnTo>
                  <a:pt x="0" y="0"/>
                </a:lnTo>
                <a:close/>
              </a:path>
            </a:pathLst>
          </a:custGeom>
          <a:blipFill>
            <a:blip r:embed="rId4"/>
            <a:stretch>
              <a:fillRect/>
            </a:stretch>
          </a:blipFill>
        </p:spPr>
      </p:sp>
      <p:sp>
        <p:nvSpPr>
          <p:cNvPr id="7" name="TextBox 7"/>
          <p:cNvSpPr txBox="1"/>
          <p:nvPr/>
        </p:nvSpPr>
        <p:spPr>
          <a:xfrm>
            <a:off x="4210014" y="3781262"/>
            <a:ext cx="12337711" cy="3891618"/>
          </a:xfrm>
          <a:prstGeom prst="rect">
            <a:avLst/>
          </a:prstGeom>
        </p:spPr>
        <p:txBody>
          <a:bodyPr lIns="0" tIns="0" rIns="0" bIns="0" rtlCol="0" anchor="t">
            <a:spAutoFit/>
          </a:bodyPr>
          <a:lstStyle/>
          <a:p>
            <a:pPr algn="l">
              <a:lnSpc>
                <a:spcPts val="14796"/>
              </a:lnSpc>
            </a:pPr>
            <a:r>
              <a:rPr lang="en-US" sz="15741" spc="1495">
                <a:solidFill>
                  <a:srgbClr val="D7FDFF"/>
                </a:solidFill>
                <a:latin typeface="Paalalabas Wide"/>
                <a:ea typeface="Paalalabas Wide"/>
                <a:cs typeface="Paalalabas Wide"/>
                <a:sym typeface="Paalalabas Wide"/>
              </a:rPr>
              <a:t> indiajob</a:t>
            </a:r>
          </a:p>
          <a:p>
            <a:pPr algn="l">
              <a:lnSpc>
                <a:spcPts val="14796"/>
              </a:lnSpc>
            </a:pPr>
            <a:r>
              <a:rPr lang="en-US" sz="15741" spc="1495">
                <a:solidFill>
                  <a:srgbClr val="D7FDFF"/>
                </a:solidFill>
                <a:latin typeface="Paalalabas Wide"/>
                <a:ea typeface="Paalalabas Wide"/>
                <a:cs typeface="Paalalabas Wide"/>
                <a:sym typeface="Paalalabas Wide"/>
              </a:rPr>
              <a:t>  market</a:t>
            </a:r>
          </a:p>
        </p:txBody>
      </p:sp>
      <p:sp>
        <p:nvSpPr>
          <p:cNvPr id="8" name="Freeform 2">
            <a:extLst>
              <a:ext uri="{FF2B5EF4-FFF2-40B4-BE49-F238E27FC236}">
                <a16:creationId xmlns:a16="http://schemas.microsoft.com/office/drawing/2014/main" id="{B7574D2D-2B40-884F-3650-A37308DEC043}"/>
              </a:ext>
              <a:ext uri="{C183D7F6-B498-43B3-948B-1728B52AA6E4}">
                <adec:decorative xmlns:adec="http://schemas.microsoft.com/office/drawing/2017/decorative" val="1"/>
              </a:ext>
            </a:extLst>
          </p:cNvPr>
          <p:cNvSpPr/>
          <p:nvPr/>
        </p:nvSpPr>
        <p:spPr>
          <a:xfrm>
            <a:off x="1240252" y="7853924"/>
            <a:ext cx="15709525" cy="1371601"/>
          </a:xfrm>
          <a:custGeom>
            <a:avLst/>
            <a:gdLst/>
            <a:ahLst/>
            <a:cxnLst/>
            <a:rect l="l" t="t" r="r" b="b"/>
            <a:pathLst>
              <a:path w="8415386" h="8415386">
                <a:moveTo>
                  <a:pt x="0" y="0"/>
                </a:moveTo>
                <a:lnTo>
                  <a:pt x="8415386" y="0"/>
                </a:lnTo>
                <a:lnTo>
                  <a:pt x="8415386" y="8415386"/>
                </a:lnTo>
                <a:lnTo>
                  <a:pt x="0" y="84153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337759" y="1341425"/>
            <a:ext cx="3273637" cy="8415386"/>
          </a:xfrm>
          <a:custGeom>
            <a:avLst/>
            <a:gdLst/>
            <a:ahLst/>
            <a:cxnLst/>
            <a:rect l="l" t="t" r="r" b="b"/>
            <a:pathLst>
              <a:path w="8415386" h="8415386">
                <a:moveTo>
                  <a:pt x="0" y="0"/>
                </a:moveTo>
                <a:lnTo>
                  <a:pt x="8415386" y="0"/>
                </a:lnTo>
                <a:lnTo>
                  <a:pt x="8415386" y="8415386"/>
                </a:lnTo>
                <a:lnTo>
                  <a:pt x="0" y="8415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C183D7F6-B498-43B3-948B-1728B52AA6E4}">
                <adec:decorative xmlns:adec="http://schemas.microsoft.com/office/drawing/2017/decorative" val="1"/>
              </a:ext>
            </a:extLst>
          </p:cNvPr>
          <p:cNvSpPr/>
          <p:nvPr/>
        </p:nvSpPr>
        <p:spPr>
          <a:xfrm>
            <a:off x="0" y="3467099"/>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579506" y="752475"/>
            <a:ext cx="5621894" cy="1222642"/>
          </a:xfrm>
          <a:prstGeom prst="rect">
            <a:avLst/>
          </a:prstGeom>
        </p:spPr>
        <p:txBody>
          <a:bodyPr wrap="square" lIns="0" tIns="0" rIns="0" bIns="0" rtlCol="0" anchor="t">
            <a:spAutoFit/>
          </a:bodyPr>
          <a:lstStyle/>
          <a:p>
            <a:pPr algn="ctr">
              <a:lnSpc>
                <a:spcPts val="10296"/>
              </a:lnSpc>
              <a:spcBef>
                <a:spcPct val="0"/>
              </a:spcBef>
            </a:pPr>
            <a:r>
              <a:rPr lang="en-US" sz="7354" b="1" dirty="0">
                <a:solidFill>
                  <a:srgbClr val="D7FDFF"/>
                </a:solidFill>
                <a:latin typeface="Gill Sans Display Ultra-Bold"/>
                <a:ea typeface="Gill Sans Display Ultra-Bold"/>
                <a:cs typeface="Gill Sans Display Ultra-Bold"/>
                <a:sym typeface="Gill Sans Display Ultra-Bold"/>
              </a:rPr>
              <a:t>CONTENTS</a:t>
            </a:r>
          </a:p>
        </p:txBody>
      </p:sp>
      <p:sp>
        <p:nvSpPr>
          <p:cNvPr id="10" name="TextBox 10"/>
          <p:cNvSpPr txBox="1"/>
          <p:nvPr/>
        </p:nvSpPr>
        <p:spPr>
          <a:xfrm>
            <a:off x="5255496" y="2781300"/>
            <a:ext cx="9346100" cy="6574388"/>
          </a:xfrm>
          <a:prstGeom prst="rect">
            <a:avLst/>
          </a:prstGeom>
        </p:spPr>
        <p:txBody>
          <a:bodyPr lIns="0" tIns="0" rIns="0" bIns="0" rtlCol="0" anchor="t">
            <a:spAutoFit/>
          </a:bodyPr>
          <a:lstStyle/>
          <a:p>
            <a:pPr marL="1007913" lvl="1" indent="-503956" algn="l">
              <a:lnSpc>
                <a:spcPts val="6535"/>
              </a:lnSpc>
              <a:buFont typeface="Arial"/>
              <a:buChar char="•"/>
            </a:pPr>
            <a:r>
              <a:rPr lang="en-US" sz="4668" dirty="0">
                <a:solidFill>
                  <a:srgbClr val="D7FDFF"/>
                </a:solidFill>
                <a:latin typeface="Garet"/>
                <a:ea typeface="Garet"/>
                <a:cs typeface="Garet"/>
                <a:sym typeface="Garet"/>
              </a:rPr>
              <a:t>Abstract</a:t>
            </a:r>
          </a:p>
          <a:p>
            <a:pPr marL="1007913" lvl="1" indent="-503956" algn="l">
              <a:lnSpc>
                <a:spcPts val="6535"/>
              </a:lnSpc>
              <a:buFont typeface="Arial"/>
              <a:buChar char="•"/>
            </a:pPr>
            <a:r>
              <a:rPr lang="en-US" sz="4668" dirty="0">
                <a:solidFill>
                  <a:srgbClr val="D7FDFF"/>
                </a:solidFill>
                <a:latin typeface="Garet"/>
                <a:ea typeface="Garet"/>
                <a:cs typeface="Garet"/>
                <a:sym typeface="Garet"/>
              </a:rPr>
              <a:t>Introduction</a:t>
            </a:r>
          </a:p>
          <a:p>
            <a:pPr marL="1007913" lvl="1" indent="-503956" algn="l">
              <a:lnSpc>
                <a:spcPts val="6535"/>
              </a:lnSpc>
              <a:buFont typeface="Arial"/>
              <a:buChar char="•"/>
            </a:pPr>
            <a:r>
              <a:rPr lang="en-US" sz="4668" dirty="0">
                <a:solidFill>
                  <a:srgbClr val="D7FDFF"/>
                </a:solidFill>
                <a:latin typeface="Garet"/>
                <a:ea typeface="Garet"/>
                <a:cs typeface="Garet"/>
                <a:sym typeface="Garet"/>
              </a:rPr>
              <a:t>System Requirements</a:t>
            </a:r>
          </a:p>
          <a:p>
            <a:pPr marL="1007913" lvl="1" indent="-503956" algn="l">
              <a:lnSpc>
                <a:spcPts val="6535"/>
              </a:lnSpc>
              <a:buFont typeface="Arial"/>
              <a:buChar char="•"/>
            </a:pPr>
            <a:r>
              <a:rPr lang="en-US" sz="4668" dirty="0">
                <a:solidFill>
                  <a:srgbClr val="D7FDFF"/>
                </a:solidFill>
                <a:latin typeface="Garet"/>
                <a:ea typeface="Garet"/>
                <a:cs typeface="Garet"/>
                <a:sym typeface="Garet"/>
              </a:rPr>
              <a:t>Architecture</a:t>
            </a:r>
          </a:p>
          <a:p>
            <a:pPr marL="1007913" lvl="1" indent="-503956" algn="l">
              <a:lnSpc>
                <a:spcPts val="6535"/>
              </a:lnSpc>
              <a:buFont typeface="Arial"/>
              <a:buChar char="•"/>
            </a:pPr>
            <a:r>
              <a:rPr lang="en-US" sz="4668" dirty="0">
                <a:solidFill>
                  <a:srgbClr val="D7FDFF"/>
                </a:solidFill>
                <a:latin typeface="Garet"/>
                <a:ea typeface="Garet"/>
                <a:cs typeface="Garet"/>
                <a:sym typeface="Garet"/>
              </a:rPr>
              <a:t>Uses of data analysis library</a:t>
            </a:r>
          </a:p>
          <a:p>
            <a:pPr marL="1007913" lvl="1" indent="-503956" algn="l">
              <a:lnSpc>
                <a:spcPts val="6535"/>
              </a:lnSpc>
              <a:buFont typeface="Arial"/>
              <a:buChar char="•"/>
            </a:pPr>
            <a:r>
              <a:rPr lang="en-US" sz="4668" dirty="0">
                <a:solidFill>
                  <a:srgbClr val="D7FDFF"/>
                </a:solidFill>
                <a:latin typeface="Garet"/>
                <a:ea typeface="Garet"/>
                <a:cs typeface="Garet"/>
                <a:sym typeface="Garet"/>
              </a:rPr>
              <a:t>Advantages</a:t>
            </a:r>
          </a:p>
          <a:p>
            <a:pPr marL="1007913" lvl="1" indent="-503956" algn="l">
              <a:lnSpc>
                <a:spcPts val="6535"/>
              </a:lnSpc>
              <a:buFont typeface="Arial"/>
              <a:buChar char="•"/>
            </a:pPr>
            <a:r>
              <a:rPr lang="en-US" sz="4668" dirty="0">
                <a:solidFill>
                  <a:srgbClr val="D7FDFF"/>
                </a:solidFill>
                <a:latin typeface="Garet"/>
                <a:ea typeface="Garet"/>
                <a:cs typeface="Garet"/>
                <a:sym typeface="Garet"/>
              </a:rPr>
              <a:t>Conclusion</a:t>
            </a:r>
          </a:p>
          <a:p>
            <a:pPr algn="ctr">
              <a:lnSpc>
                <a:spcPts val="6535"/>
              </a:lnSpc>
              <a:spcBef>
                <a:spcPct val="0"/>
              </a:spcBef>
            </a:pPr>
            <a:endParaRPr lang="en-US" sz="4668" dirty="0">
              <a:solidFill>
                <a:srgbClr val="D7FDFF"/>
              </a:solidFill>
              <a:latin typeface="Garet"/>
              <a:ea typeface="Garet"/>
              <a:cs typeface="Garet"/>
              <a:sym typeface="Garet"/>
            </a:endParaRPr>
          </a:p>
        </p:txBody>
      </p:sp>
      <p:sp>
        <p:nvSpPr>
          <p:cNvPr id="11" name="Freeform 2">
            <a:extLst>
              <a:ext uri="{FF2B5EF4-FFF2-40B4-BE49-F238E27FC236}">
                <a16:creationId xmlns:a16="http://schemas.microsoft.com/office/drawing/2014/main" id="{6342B967-7A81-611F-830F-86A482424C29}"/>
              </a:ext>
              <a:ext uri="{C183D7F6-B498-43B3-948B-1728B52AA6E4}">
                <adec:decorative xmlns:adec="http://schemas.microsoft.com/office/drawing/2017/decorative" val="1"/>
              </a:ext>
            </a:extLst>
          </p:cNvPr>
          <p:cNvSpPr/>
          <p:nvPr/>
        </p:nvSpPr>
        <p:spPr>
          <a:xfrm>
            <a:off x="14445041" y="1104900"/>
            <a:ext cx="3505200" cy="8415386"/>
          </a:xfrm>
          <a:custGeom>
            <a:avLst/>
            <a:gdLst/>
            <a:ahLst/>
            <a:cxnLst/>
            <a:rect l="l" t="t" r="r" b="b"/>
            <a:pathLst>
              <a:path w="8415386" h="8415386">
                <a:moveTo>
                  <a:pt x="0" y="0"/>
                </a:moveTo>
                <a:lnTo>
                  <a:pt x="8415386" y="0"/>
                </a:lnTo>
                <a:lnTo>
                  <a:pt x="8415386" y="8415386"/>
                </a:lnTo>
                <a:lnTo>
                  <a:pt x="0" y="8415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114800" y="492055"/>
            <a:ext cx="8719027" cy="1403873"/>
          </a:xfrm>
          <a:prstGeom prst="rect">
            <a:avLst/>
          </a:prstGeom>
        </p:spPr>
        <p:txBody>
          <a:bodyPr lIns="0" tIns="0" rIns="0" bIns="0" rtlCol="0" anchor="t">
            <a:spAutoFit/>
          </a:bodyPr>
          <a:lstStyle/>
          <a:p>
            <a:pPr algn="ctr">
              <a:lnSpc>
                <a:spcPts val="10296"/>
              </a:lnSpc>
              <a:spcBef>
                <a:spcPct val="0"/>
              </a:spcBef>
            </a:pPr>
            <a:r>
              <a:rPr lang="en-US" sz="7354" b="1" dirty="0">
                <a:solidFill>
                  <a:srgbClr val="D7FDFF"/>
                </a:solidFill>
                <a:latin typeface="Alegreya Sans SC Bold"/>
                <a:ea typeface="Alegreya Sans SC Bold"/>
                <a:cs typeface="Alegreya Sans SC Bold"/>
                <a:sym typeface="Alegreya Sans SC Bold"/>
              </a:rPr>
              <a:t>abstract</a:t>
            </a:r>
          </a:p>
        </p:txBody>
      </p:sp>
      <p:sp>
        <p:nvSpPr>
          <p:cNvPr id="4" name="Freeform 4">
            <a:extLst>
              <a:ext uri="{C183D7F6-B498-43B3-948B-1728B52AA6E4}">
                <adec:decorative xmlns:adec="http://schemas.microsoft.com/office/drawing/2017/decorative" val="1"/>
              </a:ext>
            </a:extLst>
          </p:cNvPr>
          <p:cNvSpPr/>
          <p:nvPr/>
        </p:nvSpPr>
        <p:spPr>
          <a:xfrm rot="-10800000" flipH="1" flipV="1">
            <a:off x="0" y="7273696"/>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H="1" flipV="1">
            <a:off x="685800" y="6374398"/>
            <a:ext cx="2182042" cy="2866766"/>
          </a:xfrm>
          <a:custGeom>
            <a:avLst/>
            <a:gdLst/>
            <a:ahLst/>
            <a:cxnLst/>
            <a:rect l="l" t="t" r="r" b="b"/>
            <a:pathLst>
              <a:path w="2182042" h="2866766">
                <a:moveTo>
                  <a:pt x="2182041" y="2866766"/>
                </a:moveTo>
                <a:lnTo>
                  <a:pt x="0" y="2866766"/>
                </a:lnTo>
                <a:lnTo>
                  <a:pt x="0" y="0"/>
                </a:lnTo>
                <a:lnTo>
                  <a:pt x="2182041" y="0"/>
                </a:lnTo>
                <a:lnTo>
                  <a:pt x="2182041" y="286676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H="1" flipV="1">
            <a:off x="15338515" y="1021776"/>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flipV="1">
            <a:off x="16084186" y="90490"/>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609600" y="2416337"/>
            <a:ext cx="17068800" cy="6501780"/>
          </a:xfrm>
          <a:prstGeom prst="rect">
            <a:avLst/>
          </a:prstGeom>
        </p:spPr>
        <p:txBody>
          <a:bodyPr wrap="square" lIns="0" tIns="0" rIns="0" bIns="0" rtlCol="0" anchor="t">
            <a:spAutoFit/>
          </a:bodyPr>
          <a:lstStyle/>
          <a:p>
            <a:pPr algn="just">
              <a:lnSpc>
                <a:spcPts val="3916"/>
              </a:lnSpc>
            </a:pPr>
            <a:r>
              <a:rPr lang="en-US" sz="4000" b="1" dirty="0">
                <a:solidFill>
                  <a:schemeClr val="accent6">
                    <a:lumMod val="20000"/>
                    <a:lumOff val="80000"/>
                  </a:schemeClr>
                </a:solidFill>
                <a:latin typeface="Times New Roman Bold"/>
                <a:ea typeface="Times New Roman Bold"/>
                <a:cs typeface="Times New Roman Bold"/>
                <a:sym typeface="Times New Roman Bold"/>
              </a:rPr>
              <a:t>The Indian job market is a dynamic and multifaceted landscape undergoing significant transformation driven by technological advancements, demographic shifts, government policies, and global economic trends. </a:t>
            </a:r>
          </a:p>
          <a:p>
            <a:pPr algn="just">
              <a:lnSpc>
                <a:spcPts val="3916"/>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916"/>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916"/>
              </a:lnSpc>
            </a:pPr>
            <a:r>
              <a:rPr lang="en-US" sz="4000" b="1" dirty="0">
                <a:solidFill>
                  <a:schemeClr val="accent6">
                    <a:lumMod val="20000"/>
                    <a:lumOff val="80000"/>
                  </a:schemeClr>
                </a:solidFill>
                <a:latin typeface="Times New Roman Bold"/>
                <a:ea typeface="Times New Roman Bold"/>
                <a:cs typeface="Times New Roman Bold"/>
                <a:sym typeface="Times New Roman Bold"/>
              </a:rPr>
              <a:t>This project, "India Job Market," aims to provide a comprehensive analysis of its current state, key drivers, emerging challenges, and future trajectory. The abstract will delve into various facets, including:</a:t>
            </a:r>
          </a:p>
          <a:p>
            <a:pPr algn="just">
              <a:lnSpc>
                <a:spcPts val="3916"/>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916"/>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603940" lvl="1" indent="-301970" algn="just">
              <a:lnSpc>
                <a:spcPts val="3916"/>
              </a:lnSpc>
              <a:buFont typeface="Arial"/>
              <a:buChar char="•"/>
            </a:pPr>
            <a:r>
              <a:rPr lang="en-US" sz="4800" b="1" dirty="0">
                <a:solidFill>
                  <a:srgbClr val="FFFF00"/>
                </a:solidFill>
                <a:latin typeface="Times New Roman Bold"/>
                <a:ea typeface="Times New Roman Bold"/>
                <a:cs typeface="Times New Roman Bold"/>
                <a:sym typeface="Times New Roman Bold"/>
              </a:rPr>
              <a:t>Current Scenario: </a:t>
            </a:r>
          </a:p>
          <a:p>
            <a:pPr marL="301970" lvl="1" algn="just">
              <a:lnSpc>
                <a:spcPts val="3916"/>
              </a:lnSpc>
            </a:pPr>
            <a:r>
              <a:rPr lang="en-US" sz="4000" b="1" dirty="0">
                <a:solidFill>
                  <a:schemeClr val="accent6">
                    <a:lumMod val="20000"/>
                    <a:lumOff val="80000"/>
                  </a:schemeClr>
                </a:solidFill>
                <a:latin typeface="Times New Roman Bold"/>
                <a:ea typeface="Times New Roman Bold"/>
                <a:cs typeface="Times New Roman Bold"/>
                <a:sym typeface="Times New Roman Bold"/>
              </a:rPr>
              <a:t>An overview of the present employment landscape, highlighting growth sectors, stagnant industries, and the formal versus informal economy divide.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Freeform 3">
            <a:extLst>
              <a:ext uri="{C183D7F6-B498-43B3-948B-1728B52AA6E4}">
                <adec:decorative xmlns:adec="http://schemas.microsoft.com/office/drawing/2017/decorative" val="1"/>
              </a:ext>
            </a:extLst>
          </p:cNvPr>
          <p:cNvSpPr/>
          <p:nvPr/>
        </p:nvSpPr>
        <p:spPr>
          <a:xfrm>
            <a:off x="0" y="-2139537"/>
            <a:ext cx="18288000" cy="2457015"/>
          </a:xfrm>
          <a:custGeom>
            <a:avLst/>
            <a:gdLst/>
            <a:ahLst/>
            <a:cxnLst/>
            <a:rect l="l" t="t" r="r" b="b"/>
            <a:pathLst>
              <a:path w="18288000" h="4164037">
                <a:moveTo>
                  <a:pt x="0" y="0"/>
                </a:moveTo>
                <a:lnTo>
                  <a:pt x="18288000" y="0"/>
                </a:lnTo>
                <a:lnTo>
                  <a:pt x="18288000" y="4164036"/>
                </a:lnTo>
                <a:lnTo>
                  <a:pt x="0" y="4164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rot="-10800000" flipH="1" flipV="1">
            <a:off x="166306" y="7035277"/>
            <a:ext cx="2182042" cy="3022138"/>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H="1" flipV="1">
            <a:off x="166307" y="7420234"/>
            <a:ext cx="2182042" cy="2866766"/>
          </a:xfrm>
          <a:custGeom>
            <a:avLst/>
            <a:gdLst/>
            <a:ahLst/>
            <a:cxnLst/>
            <a:rect l="l" t="t" r="r" b="b"/>
            <a:pathLst>
              <a:path w="2182042" h="2866766">
                <a:moveTo>
                  <a:pt x="2182041" y="2866766"/>
                </a:moveTo>
                <a:lnTo>
                  <a:pt x="0" y="2866766"/>
                </a:lnTo>
                <a:lnTo>
                  <a:pt x="0" y="0"/>
                </a:lnTo>
                <a:lnTo>
                  <a:pt x="2182041" y="0"/>
                </a:lnTo>
                <a:lnTo>
                  <a:pt x="2182041" y="286676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6" name="Freeform 6">
            <a:extLst>
              <a:ext uri="{C183D7F6-B498-43B3-948B-1728B52AA6E4}">
                <adec:decorative xmlns:adec="http://schemas.microsoft.com/office/drawing/2017/decorative" val="1"/>
              </a:ext>
            </a:extLst>
          </p:cNvPr>
          <p:cNvSpPr/>
          <p:nvPr/>
        </p:nvSpPr>
        <p:spPr>
          <a:xfrm rot="-10800000" flipH="1" flipV="1">
            <a:off x="16012661" y="0"/>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Freeform 7">
            <a:extLst>
              <a:ext uri="{C183D7F6-B498-43B3-948B-1728B52AA6E4}">
                <adec:decorative xmlns:adec="http://schemas.microsoft.com/office/drawing/2017/decorative" val="1"/>
              </a:ext>
            </a:extLst>
          </p:cNvPr>
          <p:cNvSpPr/>
          <p:nvPr/>
        </p:nvSpPr>
        <p:spPr>
          <a:xfrm flipH="1" flipV="1">
            <a:off x="16055076" y="229584"/>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304800" y="1234791"/>
            <a:ext cx="17266906" cy="8002191"/>
          </a:xfrm>
          <a:prstGeom prst="rect">
            <a:avLst/>
          </a:prstGeom>
        </p:spPr>
        <p:txBody>
          <a:bodyPr wrap="square" lIns="0" tIns="0" rIns="0" bIns="0" rtlCol="0" anchor="t">
            <a:spAutoFit/>
          </a:bodyPr>
          <a:lstStyle/>
          <a:p>
            <a:pPr marL="603940" lvl="1" indent="-301970" algn="just">
              <a:lnSpc>
                <a:spcPts val="3916"/>
              </a:lnSpc>
              <a:buFont typeface="Arial"/>
              <a:buChar char="•"/>
            </a:pPr>
            <a:r>
              <a:rPr lang="en-US" sz="4800" b="1" dirty="0">
                <a:solidFill>
                  <a:srgbClr val="FFFF00"/>
                </a:solidFill>
                <a:latin typeface="Times New Roman Bold"/>
                <a:ea typeface="Times New Roman Bold"/>
                <a:cs typeface="Times New Roman Bold"/>
                <a:sym typeface="Times New Roman Bold"/>
              </a:rPr>
              <a:t>Key Drivers of Change: </a:t>
            </a:r>
          </a:p>
          <a:p>
            <a:pPr marL="301970" lvl="1" algn="just">
              <a:lnSpc>
                <a:spcPts val="3916"/>
              </a:lnSpc>
            </a:pPr>
            <a:r>
              <a:rPr lang="en-US" sz="4000" b="1" dirty="0">
                <a:solidFill>
                  <a:schemeClr val="accent6">
                    <a:lumMod val="20000"/>
                    <a:lumOff val="80000"/>
                  </a:schemeClr>
                </a:solidFill>
                <a:latin typeface="Times New Roman Bold"/>
                <a:ea typeface="Times New Roman Bold"/>
                <a:cs typeface="Times New Roman Bold"/>
                <a:sym typeface="Times New Roman Bold"/>
              </a:rPr>
              <a:t>Examination of factors such as digitalization, automation, the rise of the gig economy, government initiatives (e.g., Skill India, Make in India), and foreign investments influencing job creation and destruction</a:t>
            </a:r>
            <a:r>
              <a:rPr lang="en-US" sz="2797" b="1" dirty="0">
                <a:solidFill>
                  <a:srgbClr val="FFDE59"/>
                </a:solidFill>
                <a:latin typeface="Times New Roman Bold"/>
                <a:ea typeface="Times New Roman Bold"/>
                <a:cs typeface="Times New Roman Bold"/>
                <a:sym typeface="Times New Roman Bold"/>
              </a:rPr>
              <a:t>.</a:t>
            </a:r>
          </a:p>
          <a:p>
            <a:pPr marL="301970" lvl="1" algn="just">
              <a:lnSpc>
                <a:spcPts val="3916"/>
              </a:lnSpc>
            </a:pPr>
            <a:endParaRPr lang="en-US" sz="2797" b="1" dirty="0">
              <a:solidFill>
                <a:srgbClr val="FFDE59"/>
              </a:solidFill>
              <a:latin typeface="Times New Roman Bold"/>
              <a:ea typeface="Times New Roman Bold"/>
              <a:cs typeface="Times New Roman Bold"/>
              <a:sym typeface="Times New Roman Bold"/>
            </a:endParaRPr>
          </a:p>
          <a:p>
            <a:pPr marL="301970" lvl="1" algn="just">
              <a:lnSpc>
                <a:spcPts val="3916"/>
              </a:lnSpc>
            </a:pPr>
            <a:endParaRPr lang="en-US" sz="2797" b="1" dirty="0">
              <a:solidFill>
                <a:srgbClr val="FFDE59"/>
              </a:solidFill>
              <a:latin typeface="Times New Roman Bold"/>
              <a:ea typeface="Times New Roman Bold"/>
              <a:cs typeface="Times New Roman Bold"/>
              <a:sym typeface="Times New Roman Bold"/>
            </a:endParaRPr>
          </a:p>
          <a:p>
            <a:pPr marL="873470" lvl="1" indent="-571500" algn="just">
              <a:lnSpc>
                <a:spcPts val="3916"/>
              </a:lnSpc>
              <a:buFont typeface="Arial" panose="020B0604020202020204" pitchFamily="34" charset="0"/>
              <a:buChar char="•"/>
            </a:pPr>
            <a:r>
              <a:rPr lang="en-US" sz="4800" b="1" dirty="0">
                <a:solidFill>
                  <a:srgbClr val="FFFF00"/>
                </a:solidFill>
                <a:latin typeface="Times New Roman Bold"/>
                <a:ea typeface="Times New Roman Bold"/>
                <a:cs typeface="Times New Roman Bold"/>
                <a:sym typeface="Times New Roman Bold"/>
              </a:rPr>
              <a:t>Challenges and Opportunities</a:t>
            </a:r>
            <a:r>
              <a:rPr lang="en-US" sz="4000" b="1" dirty="0">
                <a:solidFill>
                  <a:schemeClr val="accent6">
                    <a:lumMod val="20000"/>
                    <a:lumOff val="80000"/>
                  </a:schemeClr>
                </a:solidFill>
                <a:latin typeface="Times New Roman Bold"/>
                <a:ea typeface="Times New Roman Bold"/>
                <a:cs typeface="Times New Roman Bold"/>
                <a:sym typeface="Times New Roman Bold"/>
              </a:rPr>
              <a:t>: </a:t>
            </a:r>
          </a:p>
          <a:p>
            <a:pPr marL="301970" lvl="1" algn="just">
              <a:lnSpc>
                <a:spcPts val="3916"/>
              </a:lnSpc>
            </a:pPr>
            <a:r>
              <a:rPr lang="en-US" sz="4000" b="1" dirty="0">
                <a:solidFill>
                  <a:schemeClr val="accent6">
                    <a:lumMod val="20000"/>
                    <a:lumOff val="80000"/>
                  </a:schemeClr>
                </a:solidFill>
                <a:latin typeface="Times New Roman Bold"/>
                <a:ea typeface="Times New Roman Bold"/>
                <a:cs typeface="Times New Roman Bold"/>
                <a:sym typeface="Times New Roman Bold"/>
              </a:rPr>
              <a:t>Discussion of pertinent issues like skill gaps, underemployment, regional disparities, and the impact of global disruptions, alongside the immense opportunities presented by India's young workforce, growing domestic consumption, and focus on innovation.</a:t>
            </a:r>
          </a:p>
          <a:p>
            <a:pPr marL="301970" lvl="1" algn="just">
              <a:lnSpc>
                <a:spcPts val="3916"/>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301970" lvl="1" algn="just">
              <a:lnSpc>
                <a:spcPts val="3916"/>
              </a:lnSpc>
              <a:spcBef>
                <a:spcPct val="0"/>
              </a:spcBef>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759170" lvl="1" indent="-457200" algn="just">
              <a:lnSpc>
                <a:spcPts val="3916"/>
              </a:lnSpc>
              <a:spcBef>
                <a:spcPct val="0"/>
              </a:spcBef>
              <a:buFont typeface="Arial" panose="020B0604020202020204" pitchFamily="34" charset="0"/>
              <a:buChar char="•"/>
            </a:pPr>
            <a:r>
              <a:rPr lang="en-US" sz="4800" b="1" dirty="0">
                <a:solidFill>
                  <a:srgbClr val="FFFF00"/>
                </a:solidFill>
                <a:latin typeface="Times New Roman Bold"/>
                <a:ea typeface="Times New Roman Bold"/>
                <a:cs typeface="Times New Roman Bold"/>
                <a:sym typeface="Times New Roman Bold"/>
              </a:rPr>
              <a:t>Sectoral Analysis:</a:t>
            </a:r>
          </a:p>
          <a:p>
            <a:pPr marL="301970" lvl="1" algn="just">
              <a:lnSpc>
                <a:spcPts val="3916"/>
              </a:lnSpc>
              <a:spcBef>
                <a:spcPct val="0"/>
              </a:spcBef>
            </a:pPr>
            <a:r>
              <a:rPr lang="en-US" sz="4000" b="1" dirty="0">
                <a:solidFill>
                  <a:schemeClr val="accent6">
                    <a:lumMod val="20000"/>
                    <a:lumOff val="80000"/>
                  </a:schemeClr>
                </a:solidFill>
                <a:latin typeface="Times New Roman Bold"/>
                <a:ea typeface="Times New Roman Bold"/>
                <a:cs typeface="Times New Roman Bold"/>
                <a:sym typeface="Times New Roman Bold"/>
              </a:rPr>
              <a:t> A closer look at specific sectors demonstrating high growth potential (e.g., IT, healthcare, renewable energy, manufacturing) and those facing headwinds</a:t>
            </a:r>
            <a:r>
              <a:rPr lang="en-US" sz="2797" b="1" dirty="0">
                <a:solidFill>
                  <a:srgbClr val="FFDE59"/>
                </a:solidFill>
                <a:latin typeface="Times New Roman Bold"/>
                <a:ea typeface="Times New Roman Bold"/>
                <a:cs typeface="Times New Roman Bold"/>
                <a:sym typeface="Times New Roman Bold"/>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4310030" y="189521"/>
            <a:ext cx="8719027" cy="1403873"/>
          </a:xfrm>
          <a:prstGeom prst="rect">
            <a:avLst/>
          </a:prstGeom>
        </p:spPr>
        <p:txBody>
          <a:bodyPr lIns="0" tIns="0" rIns="0" bIns="0" rtlCol="0" anchor="t">
            <a:spAutoFit/>
          </a:bodyPr>
          <a:lstStyle/>
          <a:p>
            <a:pPr algn="ctr">
              <a:lnSpc>
                <a:spcPts val="10296"/>
              </a:lnSpc>
              <a:spcBef>
                <a:spcPct val="0"/>
              </a:spcBef>
            </a:pPr>
            <a:r>
              <a:rPr lang="en-US" sz="7354" b="1" dirty="0">
                <a:solidFill>
                  <a:srgbClr val="D7FDFF"/>
                </a:solidFill>
                <a:latin typeface="Alegreya Sans SC Bold"/>
                <a:ea typeface="Alegreya Sans SC Bold"/>
                <a:cs typeface="Alegreya Sans SC Bold"/>
                <a:sym typeface="Alegreya Sans SC Bold"/>
              </a:rPr>
              <a:t>Introduction</a:t>
            </a:r>
          </a:p>
        </p:txBody>
      </p:sp>
      <p:sp>
        <p:nvSpPr>
          <p:cNvPr id="6" name="Freeform 6">
            <a:extLst>
              <a:ext uri="{C183D7F6-B498-43B3-948B-1728B52AA6E4}">
                <adec:decorative xmlns:adec="http://schemas.microsoft.com/office/drawing/2017/decorative" val="1"/>
              </a:ext>
            </a:extLst>
          </p:cNvPr>
          <p:cNvSpPr/>
          <p:nvPr/>
        </p:nvSpPr>
        <p:spPr>
          <a:xfrm>
            <a:off x="-2847233" y="6057900"/>
            <a:ext cx="6538053" cy="6538053"/>
          </a:xfrm>
          <a:custGeom>
            <a:avLst/>
            <a:gdLst/>
            <a:ahLst/>
            <a:cxnLst/>
            <a:rect l="l" t="t" r="r" b="b"/>
            <a:pathLst>
              <a:path w="6538053" h="6538053">
                <a:moveTo>
                  <a:pt x="0" y="0"/>
                </a:moveTo>
                <a:lnTo>
                  <a:pt x="6538053" y="0"/>
                </a:lnTo>
                <a:lnTo>
                  <a:pt x="6538053" y="6538053"/>
                </a:lnTo>
                <a:lnTo>
                  <a:pt x="0" y="65380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a:extLst>
              <a:ext uri="{C183D7F6-B498-43B3-948B-1728B52AA6E4}">
                <adec:decorative xmlns:adec="http://schemas.microsoft.com/office/drawing/2017/decorative" val="1"/>
              </a:ext>
            </a:extLst>
          </p:cNvPr>
          <p:cNvSpPr/>
          <p:nvPr/>
        </p:nvSpPr>
        <p:spPr>
          <a:xfrm rot="-10800000" flipH="1">
            <a:off x="5022261" y="120049"/>
            <a:ext cx="623607" cy="1763758"/>
          </a:xfrm>
          <a:custGeom>
            <a:avLst/>
            <a:gdLst/>
            <a:ahLst/>
            <a:cxnLst/>
            <a:rect l="l" t="t" r="r" b="b"/>
            <a:pathLst>
              <a:path w="3772662" h="4956521">
                <a:moveTo>
                  <a:pt x="3772662" y="0"/>
                </a:moveTo>
                <a:lnTo>
                  <a:pt x="0" y="0"/>
                </a:lnTo>
                <a:lnTo>
                  <a:pt x="0" y="4956521"/>
                </a:lnTo>
                <a:lnTo>
                  <a:pt x="3772662" y="4956521"/>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a:extLst>
              <a:ext uri="{C183D7F6-B498-43B3-948B-1728B52AA6E4}">
                <adec:decorative xmlns:adec="http://schemas.microsoft.com/office/drawing/2017/decorative" val="1"/>
              </a:ext>
            </a:extLst>
          </p:cNvPr>
          <p:cNvSpPr/>
          <p:nvPr/>
        </p:nvSpPr>
        <p:spPr>
          <a:xfrm>
            <a:off x="15097914" y="-1866900"/>
            <a:ext cx="6538053" cy="6538053"/>
          </a:xfrm>
          <a:custGeom>
            <a:avLst/>
            <a:gdLst/>
            <a:ahLst/>
            <a:cxnLst/>
            <a:rect l="l" t="t" r="r" b="b"/>
            <a:pathLst>
              <a:path w="6538053" h="6538053">
                <a:moveTo>
                  <a:pt x="0" y="0"/>
                </a:moveTo>
                <a:lnTo>
                  <a:pt x="6538054" y="0"/>
                </a:lnTo>
                <a:lnTo>
                  <a:pt x="6538054" y="6538053"/>
                </a:lnTo>
                <a:lnTo>
                  <a:pt x="0" y="65380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825869" y="1993565"/>
            <a:ext cx="16636261" cy="2923877"/>
          </a:xfrm>
          <a:prstGeom prst="rect">
            <a:avLst/>
          </a:prstGeom>
        </p:spPr>
        <p:txBody>
          <a:bodyPr lIns="0" tIns="0" rIns="0" bIns="0" rtlCol="0" anchor="t">
            <a:spAutoFit/>
          </a:bodyPr>
          <a:lstStyle/>
          <a:p>
            <a:pPr algn="l">
              <a:lnSpc>
                <a:spcPts val="3835"/>
              </a:lnSpc>
              <a:spcBef>
                <a:spcPct val="0"/>
              </a:spcBef>
            </a:pPr>
            <a:r>
              <a:rPr lang="en-US" sz="4000" b="1" dirty="0">
                <a:solidFill>
                  <a:schemeClr val="accent6">
                    <a:lumMod val="20000"/>
                    <a:lumOff val="80000"/>
                  </a:schemeClr>
                </a:solidFill>
                <a:latin typeface="Times New Roman Bold"/>
                <a:ea typeface="Times New Roman Bold"/>
                <a:cs typeface="Times New Roman Bold"/>
                <a:sym typeface="Times New Roman Bold"/>
              </a:rPr>
              <a:t>India's job market is a dynamic and evolving landscape, characterized by its vast scale, youthful demographic, and a strong push towards technological advancement and formalization. As of mid-2025, it presents a mixed picture of immense opportunities alongside significant challenges.</a:t>
            </a:r>
          </a:p>
          <a:p>
            <a:pPr algn="l">
              <a:lnSpc>
                <a:spcPts val="3835"/>
              </a:lnSpc>
              <a:spcBef>
                <a:spcPct val="0"/>
              </a:spcBef>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l">
              <a:lnSpc>
                <a:spcPts val="3835"/>
              </a:lnSpc>
              <a:spcBef>
                <a:spcPct val="0"/>
              </a:spcBef>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p:txBody>
      </p:sp>
      <p:sp>
        <p:nvSpPr>
          <p:cNvPr id="11" name="TextBox 11"/>
          <p:cNvSpPr txBox="1"/>
          <p:nvPr/>
        </p:nvSpPr>
        <p:spPr>
          <a:xfrm>
            <a:off x="59815" y="4671153"/>
            <a:ext cx="17806391" cy="6291787"/>
          </a:xfrm>
          <a:prstGeom prst="rect">
            <a:avLst/>
          </a:prstGeom>
        </p:spPr>
        <p:txBody>
          <a:bodyPr lIns="0" tIns="0" rIns="0" bIns="0" rtlCol="0" anchor="t">
            <a:spAutoFit/>
          </a:bodyPr>
          <a:lstStyle/>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Sectoral Hotspots: </a:t>
            </a:r>
            <a:r>
              <a:rPr lang="en-US" sz="4000" b="1" dirty="0">
                <a:solidFill>
                  <a:schemeClr val="accent6">
                    <a:lumMod val="20000"/>
                    <a:lumOff val="80000"/>
                  </a:schemeClr>
                </a:solidFill>
                <a:latin typeface="Times New Roman Bold"/>
                <a:ea typeface="Times New Roman Bold"/>
                <a:cs typeface="Times New Roman Bold"/>
                <a:sym typeface="Times New Roman Bold"/>
              </a:rPr>
              <a:t>Several sectors are driving significant job growth.</a:t>
            </a:r>
          </a:p>
          <a:p>
            <a:pPr marL="535358" lvl="1" indent="-267679" algn="just">
              <a:lnSpc>
                <a:spcPts val="3471"/>
              </a:lnSpc>
              <a:buFont typeface="Arial"/>
              <a:buChar char="•"/>
            </a:pPr>
            <a:endParaRPr lang="en-US" sz="4000" b="1" dirty="0">
              <a:solidFill>
                <a:srgbClr val="FFFF00"/>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Information Technology (IT) and IT-Enabled Services (</a:t>
            </a:r>
            <a:r>
              <a:rPr lang="en-US" sz="4000" b="1" dirty="0" err="1">
                <a:solidFill>
                  <a:srgbClr val="FFFF00"/>
                </a:solidFill>
                <a:latin typeface="Times New Roman Bold"/>
                <a:ea typeface="Times New Roman Bold"/>
                <a:cs typeface="Times New Roman Bold"/>
                <a:sym typeface="Times New Roman Bold"/>
              </a:rPr>
              <a:t>ITeS</a:t>
            </a:r>
            <a:r>
              <a:rPr lang="en-US" sz="4000" b="1" dirty="0">
                <a:solidFill>
                  <a:srgbClr val="FFFF00"/>
                </a:solidFill>
                <a:latin typeface="Times New Roman Bold"/>
                <a:ea typeface="Times New Roman Bold"/>
                <a:cs typeface="Times New Roman Bold"/>
                <a:sym typeface="Times New Roman Bold"/>
              </a:rPr>
              <a:t>): </a:t>
            </a:r>
            <a:r>
              <a:rPr lang="en-US" sz="4000" b="1" dirty="0">
                <a:solidFill>
                  <a:schemeClr val="accent6">
                    <a:lumMod val="20000"/>
                    <a:lumOff val="80000"/>
                  </a:schemeClr>
                </a:solidFill>
                <a:latin typeface="Times New Roman Bold"/>
                <a:ea typeface="Times New Roman Bold"/>
                <a:cs typeface="Times New Roman Bold"/>
                <a:sym typeface="Times New Roman Bold"/>
              </a:rPr>
              <a:t>Continues to dominate, with a strong focus on digital transformation, cloud, AI, and cybersecurity.</a:t>
            </a:r>
          </a:p>
          <a:p>
            <a:pPr marL="267679" lvl="1" algn="just">
              <a:lnSpc>
                <a:spcPts val="3471"/>
              </a:lnSpc>
            </a:pPr>
            <a:endParaRPr lang="en-US" sz="4000" b="1" dirty="0">
              <a:solidFill>
                <a:srgbClr val="FFFF00"/>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Healthcare and Pharmaceuticals: </a:t>
            </a:r>
            <a:r>
              <a:rPr lang="en-US" sz="4000" b="1" dirty="0">
                <a:solidFill>
                  <a:schemeClr val="accent6">
                    <a:lumMod val="20000"/>
                    <a:lumOff val="80000"/>
                  </a:schemeClr>
                </a:solidFill>
                <a:latin typeface="Times New Roman Bold"/>
                <a:ea typeface="Times New Roman Bold"/>
                <a:cs typeface="Times New Roman Bold"/>
                <a:sym typeface="Times New Roman Bold"/>
              </a:rPr>
              <a:t>Booming due to increased spending, advancements in biotechnology, and telemedicine.</a:t>
            </a:r>
          </a:p>
          <a:p>
            <a:pPr marL="535358" lvl="1" indent="-267679" algn="just">
              <a:lnSpc>
                <a:spcPts val="3471"/>
              </a:lnSpc>
              <a:buFont typeface="Arial"/>
              <a:buChar char="•"/>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Financial Services and FinTech: </a:t>
            </a:r>
            <a:r>
              <a:rPr lang="en-US" sz="4000" b="1" dirty="0">
                <a:solidFill>
                  <a:schemeClr val="accent6">
                    <a:lumMod val="20000"/>
                    <a:lumOff val="80000"/>
                  </a:schemeClr>
                </a:solidFill>
                <a:latin typeface="Times New Roman Bold"/>
                <a:ea typeface="Times New Roman Bold"/>
                <a:cs typeface="Times New Roman Bold"/>
                <a:sym typeface="Times New Roman Bold"/>
              </a:rPr>
              <a:t>Expanding rapidly with digital banking, mobile payments, and blockchain technology.</a:t>
            </a:r>
          </a:p>
          <a:p>
            <a:pPr marL="267679" lvl="1" algn="just">
              <a:lnSpc>
                <a:spcPts val="3471"/>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471"/>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471"/>
              </a:lnSpc>
              <a:spcBef>
                <a:spcPct val="0"/>
              </a:spcBef>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p:txBody>
      </p:sp>
      <p:sp>
        <p:nvSpPr>
          <p:cNvPr id="12" name="Freeform 7">
            <a:extLst>
              <a:ext uri="{FF2B5EF4-FFF2-40B4-BE49-F238E27FC236}">
                <a16:creationId xmlns:a16="http://schemas.microsoft.com/office/drawing/2014/main" id="{A8DFE381-AA6B-D6B1-09BB-A4928DC94D8A}"/>
              </a:ext>
              <a:ext uri="{C183D7F6-B498-43B3-948B-1728B52AA6E4}">
                <adec:decorative xmlns:adec="http://schemas.microsoft.com/office/drawing/2017/decorative" val="1"/>
              </a:ext>
            </a:extLst>
          </p:cNvPr>
          <p:cNvSpPr/>
          <p:nvPr/>
        </p:nvSpPr>
        <p:spPr>
          <a:xfrm flipH="1" flipV="1">
            <a:off x="11658600" y="155778"/>
            <a:ext cx="605493" cy="172379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0" y="8648700"/>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flipV="1">
            <a:off x="0" y="0"/>
            <a:ext cx="990600" cy="3021926"/>
          </a:xfrm>
          <a:custGeom>
            <a:avLst/>
            <a:gdLst/>
            <a:ahLst/>
            <a:cxnLst/>
            <a:rect l="l" t="t" r="r" b="b"/>
            <a:pathLst>
              <a:path w="2300142" h="3021926">
                <a:moveTo>
                  <a:pt x="0" y="3021926"/>
                </a:moveTo>
                <a:lnTo>
                  <a:pt x="2300142" y="3021926"/>
                </a:lnTo>
                <a:lnTo>
                  <a:pt x="2300142" y="0"/>
                </a:lnTo>
                <a:lnTo>
                  <a:pt x="0" y="0"/>
                </a:lnTo>
                <a:lnTo>
                  <a:pt x="0" y="302192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TextBox 11"/>
          <p:cNvSpPr txBox="1"/>
          <p:nvPr/>
        </p:nvSpPr>
        <p:spPr>
          <a:xfrm>
            <a:off x="159162" y="1109208"/>
            <a:ext cx="17806391" cy="8939114"/>
          </a:xfrm>
          <a:prstGeom prst="rect">
            <a:avLst/>
          </a:prstGeom>
        </p:spPr>
        <p:txBody>
          <a:bodyPr lIns="0" tIns="0" rIns="0" bIns="0" rtlCol="0" anchor="t">
            <a:spAutoFit/>
          </a:bodyPr>
          <a:lstStyle/>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E-commerce and Retail: </a:t>
            </a:r>
            <a:r>
              <a:rPr lang="en-US" sz="4000" b="1" dirty="0">
                <a:solidFill>
                  <a:schemeClr val="accent6">
                    <a:lumMod val="20000"/>
                    <a:lumOff val="80000"/>
                  </a:schemeClr>
                </a:solidFill>
                <a:latin typeface="Times New Roman Bold"/>
                <a:ea typeface="Times New Roman Bold"/>
                <a:cs typeface="Times New Roman Bold"/>
                <a:sym typeface="Times New Roman Bold"/>
              </a:rPr>
              <a:t>Driven by the growth of online shopping, creating demand in logistics, supply chain, digital marketing, and customer service.</a:t>
            </a:r>
          </a:p>
          <a:p>
            <a:pPr marL="267679" lvl="1" algn="just">
              <a:lnSpc>
                <a:spcPts val="3471"/>
              </a:lnSpc>
            </a:pPr>
            <a:endParaRPr lang="en-US" sz="4000" b="1" dirty="0">
              <a:solidFill>
                <a:srgbClr val="FFFF00"/>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Manufacturing and Engineering: </a:t>
            </a:r>
            <a:r>
              <a:rPr lang="en-US" sz="4000" b="1" dirty="0">
                <a:solidFill>
                  <a:schemeClr val="accent6">
                    <a:lumMod val="20000"/>
                    <a:lumOff val="80000"/>
                  </a:schemeClr>
                </a:solidFill>
                <a:latin typeface="Times New Roman Bold"/>
                <a:ea typeface="Times New Roman Bold"/>
                <a:cs typeface="Times New Roman Bold"/>
                <a:sym typeface="Times New Roman Bold"/>
              </a:rPr>
              <a:t>Benefiting from government initiatives like "Make in India," leading to increased demand for engineers and skilled labor.</a:t>
            </a:r>
          </a:p>
          <a:p>
            <a:pPr marL="535358" lvl="1" indent="-267679" algn="just">
              <a:lnSpc>
                <a:spcPts val="3471"/>
              </a:lnSpc>
              <a:buFont typeface="Arial"/>
              <a:buChar char="•"/>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Renewable Energy: </a:t>
            </a:r>
            <a:r>
              <a:rPr lang="en-US" sz="4000" b="1" dirty="0">
                <a:solidFill>
                  <a:schemeClr val="accent6">
                    <a:lumMod val="20000"/>
                    <a:lumOff val="80000"/>
                  </a:schemeClr>
                </a:solidFill>
                <a:latin typeface="Times New Roman Bold"/>
                <a:ea typeface="Times New Roman Bold"/>
                <a:cs typeface="Times New Roman Bold"/>
                <a:sym typeface="Times New Roman Bold"/>
              </a:rPr>
              <a:t>Poised for significant growth as India pursues ambitious sustainability goals.</a:t>
            </a:r>
          </a:p>
          <a:p>
            <a:pPr marL="535358" lvl="1" indent="-267679" algn="just">
              <a:lnSpc>
                <a:spcPts val="3471"/>
              </a:lnSpc>
              <a:buFont typeface="Arial"/>
              <a:buChar char="•"/>
            </a:pPr>
            <a:endParaRPr lang="en-US" sz="4000" b="1" dirty="0">
              <a:solidFill>
                <a:srgbClr val="FFFF00"/>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Rise of the Gig Economy and Flexible Work: </a:t>
            </a:r>
            <a:r>
              <a:rPr lang="en-US" sz="4000" b="1" dirty="0">
                <a:solidFill>
                  <a:schemeClr val="accent6">
                    <a:lumMod val="20000"/>
                    <a:lumOff val="80000"/>
                  </a:schemeClr>
                </a:solidFill>
                <a:latin typeface="Times New Roman Bold"/>
                <a:ea typeface="Times New Roman Bold"/>
                <a:cs typeface="Times New Roman Bold"/>
                <a:sym typeface="Times New Roman Bold"/>
              </a:rPr>
              <a:t>The gig economy is expanding, with more individuals choosing freelance and contract work due to online platforms offering greater autonomy and work-life balance. Remote and hybrid work models, accelerated by the pandemic, are also becoming integral to the job market.</a:t>
            </a:r>
          </a:p>
          <a:p>
            <a:pPr marL="535358" lvl="1" indent="-267679" algn="just">
              <a:lnSpc>
                <a:spcPts val="3471"/>
              </a:lnSpc>
              <a:buFont typeface="Arial"/>
              <a:buChar char="•"/>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535358" lvl="1" indent="-267679" algn="just">
              <a:lnSpc>
                <a:spcPts val="3471"/>
              </a:lnSpc>
              <a:buFont typeface="Arial"/>
              <a:buChar char="•"/>
            </a:pPr>
            <a:r>
              <a:rPr lang="en-US" sz="4000" b="1" dirty="0">
                <a:solidFill>
                  <a:srgbClr val="FFFF00"/>
                </a:solidFill>
                <a:latin typeface="Times New Roman Bold"/>
                <a:ea typeface="Times New Roman Bold"/>
                <a:cs typeface="Times New Roman Bold"/>
                <a:sym typeface="Times New Roman Bold"/>
              </a:rPr>
              <a:t>High Job Mobility: </a:t>
            </a:r>
            <a:r>
              <a:rPr lang="en-US" sz="4000" b="1" dirty="0">
                <a:solidFill>
                  <a:schemeClr val="accent6">
                    <a:lumMod val="20000"/>
                    <a:lumOff val="80000"/>
                  </a:schemeClr>
                </a:solidFill>
                <a:latin typeface="Times New Roman Bold"/>
                <a:ea typeface="Times New Roman Bold"/>
                <a:cs typeface="Times New Roman Bold"/>
                <a:sym typeface="Times New Roman Bold"/>
              </a:rPr>
              <a:t>Indian professionals are exhibiting high job mobility, actively seeking new roles and negotiating for better pay and benefits. They are increasingly prioritizing purpose, ethics, and flexibility in their careers.</a:t>
            </a:r>
          </a:p>
          <a:p>
            <a:pPr algn="just">
              <a:lnSpc>
                <a:spcPts val="3471"/>
              </a:lnSpc>
            </a:pPr>
            <a:endParaRPr lang="en-US" sz="2479" b="1" dirty="0">
              <a:solidFill>
                <a:srgbClr val="CCEB0C"/>
              </a:solidFill>
              <a:latin typeface="Times New Roman Bold"/>
              <a:ea typeface="Times New Roman Bold"/>
              <a:cs typeface="Times New Roman Bold"/>
              <a:sym typeface="Times New Roman Bold"/>
            </a:endParaRPr>
          </a:p>
          <a:p>
            <a:pPr algn="just">
              <a:lnSpc>
                <a:spcPts val="3471"/>
              </a:lnSpc>
              <a:spcBef>
                <a:spcPct val="0"/>
              </a:spcBef>
            </a:pPr>
            <a:endParaRPr lang="en-US" sz="2479" b="1" dirty="0">
              <a:solidFill>
                <a:srgbClr val="CCEB0C"/>
              </a:solidFill>
              <a:latin typeface="Times New Roman Bold"/>
              <a:ea typeface="Times New Roman Bold"/>
              <a:cs typeface="Times New Roman Bold"/>
              <a:sym typeface="Times New Roman Bold"/>
            </a:endParaRPr>
          </a:p>
        </p:txBody>
      </p:sp>
      <p:sp>
        <p:nvSpPr>
          <p:cNvPr id="12" name="Freeform 7">
            <a:extLst>
              <a:ext uri="{FF2B5EF4-FFF2-40B4-BE49-F238E27FC236}">
                <a16:creationId xmlns:a16="http://schemas.microsoft.com/office/drawing/2014/main" id="{CA024864-7C2A-9EF2-3F78-2FBB5BCDA179}"/>
              </a:ext>
              <a:ext uri="{C183D7F6-B498-43B3-948B-1728B52AA6E4}">
                <adec:decorative xmlns:adec="http://schemas.microsoft.com/office/drawing/2017/decorative" val="1"/>
              </a:ext>
            </a:extLst>
          </p:cNvPr>
          <p:cNvSpPr/>
          <p:nvPr/>
        </p:nvSpPr>
        <p:spPr>
          <a:xfrm flipH="1" flipV="1">
            <a:off x="17145000" y="190500"/>
            <a:ext cx="1143000" cy="283142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Freeform 3">
            <a:extLst>
              <a:ext uri="{C183D7F6-B498-43B3-948B-1728B52AA6E4}">
                <adec:decorative xmlns:adec="http://schemas.microsoft.com/office/drawing/2017/decorative" val="1"/>
              </a:ext>
            </a:extLst>
          </p:cNvPr>
          <p:cNvSpPr/>
          <p:nvPr/>
        </p:nvSpPr>
        <p:spPr>
          <a:xfrm>
            <a:off x="0" y="-159610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a:extLst>
              <a:ext uri="{C183D7F6-B498-43B3-948B-1728B52AA6E4}">
                <adec:decorative xmlns:adec="http://schemas.microsoft.com/office/drawing/2017/decorative" val="1"/>
              </a:ext>
            </a:extLst>
          </p:cNvPr>
          <p:cNvSpPr/>
          <p:nvPr/>
        </p:nvSpPr>
        <p:spPr>
          <a:xfrm rot="5400000" flipH="1">
            <a:off x="8602208" y="483932"/>
            <a:ext cx="1148898" cy="18288000"/>
          </a:xfrm>
          <a:custGeom>
            <a:avLst/>
            <a:gdLst/>
            <a:ahLst/>
            <a:cxnLst/>
            <a:rect l="l" t="t" r="r" b="b"/>
            <a:pathLst>
              <a:path w="3772662" h="4956521">
                <a:moveTo>
                  <a:pt x="3772662" y="0"/>
                </a:moveTo>
                <a:lnTo>
                  <a:pt x="0" y="0"/>
                </a:lnTo>
                <a:lnTo>
                  <a:pt x="0" y="4956521"/>
                </a:lnTo>
                <a:lnTo>
                  <a:pt x="3772662" y="4956521"/>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TextBox 7"/>
          <p:cNvSpPr txBox="1"/>
          <p:nvPr/>
        </p:nvSpPr>
        <p:spPr>
          <a:xfrm>
            <a:off x="3602048" y="329551"/>
            <a:ext cx="11520484" cy="1179297"/>
          </a:xfrm>
          <a:prstGeom prst="rect">
            <a:avLst/>
          </a:prstGeom>
        </p:spPr>
        <p:txBody>
          <a:bodyPr wrap="square" lIns="0" tIns="0" rIns="0" bIns="0" rtlCol="0" anchor="t">
            <a:spAutoFit/>
          </a:bodyPr>
          <a:lstStyle/>
          <a:p>
            <a:pPr algn="ctr">
              <a:lnSpc>
                <a:spcPts val="10296"/>
              </a:lnSpc>
              <a:spcBef>
                <a:spcPct val="0"/>
              </a:spcBef>
            </a:pPr>
            <a:r>
              <a:rPr lang="en-US" sz="7354" b="1" dirty="0">
                <a:solidFill>
                  <a:srgbClr val="D7FDFF"/>
                </a:solidFill>
                <a:latin typeface="Alegreya Sans SC Bold"/>
                <a:ea typeface="Alegreya Sans SC Bold"/>
                <a:cs typeface="Alegreya Sans SC Bold"/>
                <a:sym typeface="Alegreya Sans SC Bold"/>
              </a:rPr>
              <a:t>system   requirements</a:t>
            </a:r>
          </a:p>
        </p:txBody>
      </p:sp>
      <p:sp>
        <p:nvSpPr>
          <p:cNvPr id="8" name="TextBox 8"/>
          <p:cNvSpPr txBox="1"/>
          <p:nvPr/>
        </p:nvSpPr>
        <p:spPr>
          <a:xfrm>
            <a:off x="1778906" y="1895167"/>
            <a:ext cx="15771847" cy="7513532"/>
          </a:xfrm>
          <a:prstGeom prst="rect">
            <a:avLst/>
          </a:prstGeom>
        </p:spPr>
        <p:txBody>
          <a:bodyPr lIns="0" tIns="0" rIns="0" bIns="0" rtlCol="0" anchor="t">
            <a:spAutoFit/>
          </a:bodyPr>
          <a:lstStyle/>
          <a:p>
            <a:pPr algn="ctr">
              <a:lnSpc>
                <a:spcPts val="4866"/>
              </a:lnSpc>
            </a:pPr>
            <a:endParaRPr dirty="0"/>
          </a:p>
          <a:p>
            <a:pPr algn="ctr">
              <a:lnSpc>
                <a:spcPts val="4866"/>
              </a:lnSpc>
            </a:pPr>
            <a:endParaRPr dirty="0"/>
          </a:p>
          <a:p>
            <a:pPr marL="750411" lvl="1" indent="-375205" algn="l">
              <a:lnSpc>
                <a:spcPts val="4866"/>
              </a:lnSpc>
              <a:buFont typeface="Arial"/>
              <a:buChar char="•"/>
            </a:pPr>
            <a:r>
              <a:rPr lang="en-US" sz="3600" b="1" dirty="0">
                <a:solidFill>
                  <a:srgbClr val="FFFF00"/>
                </a:solidFill>
                <a:latin typeface="Times New Roman Bold"/>
                <a:ea typeface="Times New Roman Bold"/>
                <a:cs typeface="Times New Roman Bold"/>
                <a:sym typeface="Times New Roman Bold"/>
              </a:rPr>
              <a:t>OPERATING SYSTEM</a:t>
            </a:r>
            <a:r>
              <a:rPr lang="en-US" sz="3600" b="1" dirty="0">
                <a:solidFill>
                  <a:srgbClr val="CCEB0C"/>
                </a:solidFill>
                <a:latin typeface="Times New Roman Bold"/>
                <a:ea typeface="Times New Roman Bold"/>
                <a:cs typeface="Times New Roman Bold"/>
                <a:sym typeface="Times New Roman Bold"/>
              </a:rPr>
              <a:t>:</a:t>
            </a:r>
          </a:p>
          <a:p>
            <a:pPr algn="l">
              <a:lnSpc>
                <a:spcPts val="4866"/>
              </a:lnSpc>
            </a:pPr>
            <a:r>
              <a:rPr lang="en-US" sz="3600" b="1" dirty="0">
                <a:solidFill>
                  <a:srgbClr val="CCEB0C"/>
                </a:solidFill>
                <a:latin typeface="Times New Roman Bold"/>
                <a:ea typeface="Times New Roman Bold"/>
                <a:cs typeface="Times New Roman Bold"/>
                <a:sym typeface="Times New Roman Bold"/>
              </a:rPr>
              <a:t>       </a:t>
            </a:r>
            <a:r>
              <a:rPr lang="en-US" sz="3600" b="1" dirty="0">
                <a:solidFill>
                  <a:schemeClr val="accent6">
                    <a:lumMod val="20000"/>
                    <a:lumOff val="80000"/>
                  </a:schemeClr>
                </a:solidFill>
                <a:latin typeface="Times New Roman Bold"/>
                <a:ea typeface="Times New Roman Bold"/>
                <a:cs typeface="Times New Roman Bold"/>
                <a:sym typeface="Times New Roman Bold"/>
              </a:rPr>
              <a:t>The analysis can be performed on Windows </a:t>
            </a:r>
            <a:r>
              <a:rPr lang="en-US" sz="3600" b="1" dirty="0">
                <a:solidFill>
                  <a:srgbClr val="CCEB0C"/>
                </a:solidFill>
                <a:latin typeface="Times New Roman Bold"/>
                <a:ea typeface="Times New Roman Bold"/>
                <a:cs typeface="Times New Roman Bold"/>
                <a:sym typeface="Times New Roman Bold"/>
              </a:rPr>
              <a:t>.</a:t>
            </a:r>
          </a:p>
          <a:p>
            <a:pPr algn="l">
              <a:lnSpc>
                <a:spcPts val="4866"/>
              </a:lnSpc>
            </a:pPr>
            <a:endParaRPr lang="en-US" sz="3600" b="1" dirty="0">
              <a:solidFill>
                <a:srgbClr val="CCEB0C"/>
              </a:solidFill>
              <a:latin typeface="Times New Roman Bold"/>
              <a:ea typeface="Times New Roman Bold"/>
              <a:cs typeface="Times New Roman Bold"/>
              <a:sym typeface="Times New Roman Bold"/>
            </a:endParaRPr>
          </a:p>
          <a:p>
            <a:pPr marL="793590" lvl="1" indent="-396795" algn="just">
              <a:lnSpc>
                <a:spcPts val="5146"/>
              </a:lnSpc>
              <a:buFont typeface="Arial"/>
              <a:buChar char="•"/>
            </a:pPr>
            <a:r>
              <a:rPr lang="en-US" sz="3600" b="1" dirty="0">
                <a:solidFill>
                  <a:srgbClr val="FFFF00"/>
                </a:solidFill>
                <a:latin typeface="Times New Roman Bold"/>
                <a:ea typeface="Times New Roman Bold"/>
                <a:cs typeface="Times New Roman Bold"/>
                <a:sym typeface="Times New Roman Bold"/>
              </a:rPr>
              <a:t>Python:</a:t>
            </a:r>
          </a:p>
          <a:p>
            <a:pPr algn="l">
              <a:lnSpc>
                <a:spcPts val="4866"/>
              </a:lnSpc>
            </a:pPr>
            <a:r>
              <a:rPr lang="en-US" sz="3600" dirty="0">
                <a:solidFill>
                  <a:schemeClr val="accent6">
                    <a:lumMod val="20000"/>
                    <a:lumOff val="80000"/>
                  </a:schemeClr>
                </a:solidFill>
                <a:latin typeface="Times New Roman"/>
                <a:ea typeface="Times New Roman"/>
                <a:cs typeface="Times New Roman"/>
                <a:sym typeface="Times New Roman"/>
              </a:rPr>
              <a:t>       </a:t>
            </a:r>
            <a:r>
              <a:rPr lang="en-US" sz="3600" b="1" dirty="0">
                <a:solidFill>
                  <a:schemeClr val="accent6">
                    <a:lumMod val="20000"/>
                    <a:lumOff val="80000"/>
                  </a:schemeClr>
                </a:solidFill>
                <a:latin typeface="Times New Roman Bold"/>
                <a:ea typeface="Times New Roman Bold"/>
                <a:cs typeface="Times New Roman Bold"/>
                <a:sym typeface="Times New Roman Bold"/>
              </a:rPr>
              <a:t>Python 3.x is required for running the analysis. </a:t>
            </a:r>
          </a:p>
          <a:p>
            <a:pPr algn="l">
              <a:lnSpc>
                <a:spcPts val="4866"/>
              </a:lnSpc>
            </a:pPr>
            <a:endParaRPr lang="en-US" sz="3600" b="1" dirty="0">
              <a:solidFill>
                <a:srgbClr val="CCEB0C"/>
              </a:solidFill>
              <a:latin typeface="Times New Roman Bold"/>
              <a:ea typeface="Times New Roman Bold"/>
              <a:cs typeface="Times New Roman Bold"/>
              <a:sym typeface="Times New Roman Bold"/>
            </a:endParaRPr>
          </a:p>
          <a:p>
            <a:pPr marL="750411" lvl="1" indent="-375205" algn="l">
              <a:lnSpc>
                <a:spcPts val="4866"/>
              </a:lnSpc>
              <a:buFont typeface="Arial"/>
              <a:buChar char="•"/>
            </a:pPr>
            <a:r>
              <a:rPr lang="en-US" sz="3600" b="1" dirty="0">
                <a:solidFill>
                  <a:srgbClr val="FFFF00"/>
                </a:solidFill>
                <a:latin typeface="Times New Roman Bold"/>
                <a:ea typeface="Times New Roman Bold"/>
                <a:cs typeface="Times New Roman Bold"/>
                <a:sym typeface="Times New Roman Bold"/>
              </a:rPr>
              <a:t>Libraries:</a:t>
            </a:r>
          </a:p>
          <a:p>
            <a:pPr marL="750411" lvl="1" indent="-375205" algn="l">
              <a:lnSpc>
                <a:spcPts val="4866"/>
              </a:lnSpc>
              <a:buAutoNum type="arabicPeriod"/>
            </a:pPr>
            <a:r>
              <a:rPr lang="en-US" sz="3600" b="1" dirty="0">
                <a:solidFill>
                  <a:schemeClr val="accent6">
                    <a:lumMod val="60000"/>
                    <a:lumOff val="40000"/>
                  </a:schemeClr>
                </a:solidFill>
                <a:latin typeface="Times New Roman Bold"/>
                <a:ea typeface="Times New Roman Bold"/>
                <a:cs typeface="Times New Roman Bold"/>
                <a:sym typeface="Times New Roman Bold"/>
              </a:rPr>
              <a:t>Pandas</a:t>
            </a:r>
            <a:r>
              <a:rPr lang="en-US" sz="3600" b="1" dirty="0">
                <a:solidFill>
                  <a:schemeClr val="accent6">
                    <a:lumMod val="20000"/>
                    <a:lumOff val="80000"/>
                  </a:schemeClr>
                </a:solidFill>
                <a:latin typeface="Times New Roman Bold"/>
                <a:ea typeface="Times New Roman Bold"/>
                <a:cs typeface="Times New Roman Bold"/>
                <a:sym typeface="Times New Roman Bold"/>
              </a:rPr>
              <a:t>: Install the Pandas library using pip, a package manager for Python.  Pip install pandas</a:t>
            </a:r>
          </a:p>
          <a:p>
            <a:pPr algn="ctr">
              <a:lnSpc>
                <a:spcPts val="4866"/>
              </a:lnSpc>
              <a:spcBef>
                <a:spcPct val="0"/>
              </a:spcBef>
            </a:pPr>
            <a:endParaRPr lang="en-US" sz="3475" b="1" dirty="0">
              <a:solidFill>
                <a:srgbClr val="CCEB0C"/>
              </a:solidFill>
              <a:latin typeface="Times New Roman Bold"/>
              <a:ea typeface="Times New Roman Bold"/>
              <a:cs typeface="Times New Roman Bold"/>
              <a:sym typeface="Times New Roman Bold"/>
            </a:endParaRPr>
          </a:p>
        </p:txBody>
      </p:sp>
      <p:sp>
        <p:nvSpPr>
          <p:cNvPr id="9" name="Freeform 6">
            <a:extLst>
              <a:ext uri="{FF2B5EF4-FFF2-40B4-BE49-F238E27FC236}">
                <a16:creationId xmlns:a16="http://schemas.microsoft.com/office/drawing/2014/main" id="{8FA94E59-E7EA-CE90-4E49-E962661279D7}"/>
              </a:ext>
              <a:ext uri="{C183D7F6-B498-43B3-948B-1728B52AA6E4}">
                <adec:decorative xmlns:adec="http://schemas.microsoft.com/office/drawing/2017/decorative" val="1"/>
              </a:ext>
            </a:extLst>
          </p:cNvPr>
          <p:cNvSpPr/>
          <p:nvPr/>
        </p:nvSpPr>
        <p:spPr>
          <a:xfrm flipH="1">
            <a:off x="13754256" y="0"/>
            <a:ext cx="491820" cy="1952238"/>
          </a:xfrm>
          <a:custGeom>
            <a:avLst/>
            <a:gdLst/>
            <a:ahLst/>
            <a:cxnLst/>
            <a:rect l="l" t="t" r="r" b="b"/>
            <a:pathLst>
              <a:path w="2736552" h="3595280">
                <a:moveTo>
                  <a:pt x="2736552" y="0"/>
                </a:moveTo>
                <a:lnTo>
                  <a:pt x="0" y="0"/>
                </a:lnTo>
                <a:lnTo>
                  <a:pt x="0" y="3595280"/>
                </a:lnTo>
                <a:lnTo>
                  <a:pt x="2736552" y="3595280"/>
                </a:lnTo>
                <a:lnTo>
                  <a:pt x="273655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4">
            <a:extLst>
              <a:ext uri="{FF2B5EF4-FFF2-40B4-BE49-F238E27FC236}">
                <a16:creationId xmlns:a16="http://schemas.microsoft.com/office/drawing/2014/main" id="{4A19B390-E7F0-1B8F-EB24-5F74A6D2938E}"/>
              </a:ext>
              <a:ext uri="{C183D7F6-B498-43B3-948B-1728B52AA6E4}">
                <adec:decorative xmlns:adec="http://schemas.microsoft.com/office/drawing/2017/decorative" val="1"/>
              </a:ext>
            </a:extLst>
          </p:cNvPr>
          <p:cNvSpPr/>
          <p:nvPr/>
        </p:nvSpPr>
        <p:spPr>
          <a:xfrm rot="-10800000" flipH="1">
            <a:off x="4408686" y="84620"/>
            <a:ext cx="491819" cy="1952237"/>
          </a:xfrm>
          <a:custGeom>
            <a:avLst/>
            <a:gdLst/>
            <a:ahLst/>
            <a:cxnLst/>
            <a:rect l="l" t="t" r="r" b="b"/>
            <a:pathLst>
              <a:path w="3772662" h="4956521">
                <a:moveTo>
                  <a:pt x="3772662" y="0"/>
                </a:moveTo>
                <a:lnTo>
                  <a:pt x="0" y="0"/>
                </a:lnTo>
                <a:lnTo>
                  <a:pt x="0" y="4956521"/>
                </a:lnTo>
                <a:lnTo>
                  <a:pt x="3772662" y="4956521"/>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4"/>
          <p:cNvSpPr txBox="1"/>
          <p:nvPr/>
        </p:nvSpPr>
        <p:spPr>
          <a:xfrm>
            <a:off x="1827935" y="1946360"/>
            <a:ext cx="15164665" cy="6360011"/>
          </a:xfrm>
          <a:prstGeom prst="rect">
            <a:avLst/>
          </a:prstGeom>
        </p:spPr>
        <p:txBody>
          <a:bodyPr wrap="square" lIns="0" tIns="0" rIns="0" bIns="0" rtlCol="0" anchor="t">
            <a:spAutoFit/>
          </a:bodyPr>
          <a:lstStyle/>
          <a:p>
            <a:pPr algn="just">
              <a:lnSpc>
                <a:spcPts val="5046"/>
              </a:lnSpc>
            </a:pPr>
            <a:r>
              <a:rPr lang="en-US" sz="3604" b="1" dirty="0">
                <a:solidFill>
                  <a:schemeClr val="accent6">
                    <a:lumMod val="60000"/>
                    <a:lumOff val="40000"/>
                  </a:schemeClr>
                </a:solidFill>
                <a:latin typeface="Times New Roman Bold"/>
                <a:ea typeface="Times New Roman Bold"/>
                <a:cs typeface="Times New Roman Bold"/>
                <a:sym typeface="Times New Roman Bold"/>
              </a:rPr>
              <a:t>2. Matplotlib</a:t>
            </a:r>
            <a:r>
              <a:rPr lang="en-US" sz="3604" b="1" dirty="0">
                <a:solidFill>
                  <a:schemeClr val="accent6">
                    <a:lumMod val="40000"/>
                    <a:lumOff val="60000"/>
                  </a:schemeClr>
                </a:solidFill>
                <a:latin typeface="Times New Roman Bold"/>
                <a:ea typeface="Times New Roman Bold"/>
                <a:cs typeface="Times New Roman Bold"/>
                <a:sym typeface="Times New Roman Bold"/>
              </a:rPr>
              <a:t>: </a:t>
            </a:r>
            <a:r>
              <a:rPr lang="en-US" sz="3604" b="1" dirty="0">
                <a:solidFill>
                  <a:schemeClr val="accent6">
                    <a:lumMod val="20000"/>
                    <a:lumOff val="80000"/>
                  </a:schemeClr>
                </a:solidFill>
                <a:latin typeface="Times New Roman Bold"/>
                <a:ea typeface="Times New Roman Bold"/>
                <a:cs typeface="Times New Roman Bold"/>
                <a:sym typeface="Times New Roman Bold"/>
              </a:rPr>
              <a:t>Install the Matplotlib library using pip as well</a:t>
            </a:r>
          </a:p>
          <a:p>
            <a:pPr algn="just">
              <a:lnSpc>
                <a:spcPts val="5046"/>
              </a:lnSpc>
            </a:pPr>
            <a:r>
              <a:rPr lang="en-US" sz="3604" b="1" dirty="0">
                <a:solidFill>
                  <a:schemeClr val="accent6">
                    <a:lumMod val="20000"/>
                    <a:lumOff val="80000"/>
                  </a:schemeClr>
                </a:solidFill>
                <a:latin typeface="Times New Roman Bold"/>
                <a:ea typeface="Times New Roman Bold"/>
                <a:cs typeface="Times New Roman Bold"/>
                <a:sym typeface="Times New Roman Bold"/>
              </a:rPr>
              <a:t> pip install matplotlib</a:t>
            </a:r>
          </a:p>
          <a:p>
            <a:pPr algn="l">
              <a:lnSpc>
                <a:spcPts val="5046"/>
              </a:lnSpc>
            </a:pPr>
            <a:endParaRPr lang="en-US" sz="3604" b="1" dirty="0">
              <a:solidFill>
                <a:srgbClr val="CCEB0C"/>
              </a:solidFill>
              <a:latin typeface="Times New Roman Bold"/>
              <a:ea typeface="Times New Roman Bold"/>
              <a:cs typeface="Times New Roman Bold"/>
              <a:sym typeface="Times New Roman Bold"/>
            </a:endParaRPr>
          </a:p>
          <a:p>
            <a:pPr algn="l">
              <a:lnSpc>
                <a:spcPts val="5046"/>
              </a:lnSpc>
            </a:pPr>
            <a:r>
              <a:rPr lang="en-US" sz="3604" b="1" dirty="0">
                <a:solidFill>
                  <a:schemeClr val="accent6">
                    <a:lumMod val="60000"/>
                    <a:lumOff val="40000"/>
                  </a:schemeClr>
                </a:solidFill>
                <a:latin typeface="Times New Roman Bold"/>
                <a:ea typeface="Times New Roman Bold"/>
                <a:cs typeface="Times New Roman Bold"/>
                <a:sym typeface="Times New Roman Bold"/>
              </a:rPr>
              <a:t>3.Seaborn: </a:t>
            </a:r>
            <a:r>
              <a:rPr lang="en-US" sz="3604" b="1" dirty="0">
                <a:solidFill>
                  <a:schemeClr val="accent6">
                    <a:lumMod val="20000"/>
                    <a:lumOff val="80000"/>
                  </a:schemeClr>
                </a:solidFill>
                <a:latin typeface="Times New Roman Bold"/>
                <a:ea typeface="Times New Roman Bold"/>
                <a:cs typeface="Times New Roman Bold"/>
                <a:sym typeface="Times New Roman Bold"/>
              </a:rPr>
              <a:t>Install the seaborn library using pip command</a:t>
            </a:r>
          </a:p>
          <a:p>
            <a:pPr algn="just">
              <a:lnSpc>
                <a:spcPts val="5046"/>
              </a:lnSpc>
            </a:pPr>
            <a:r>
              <a:rPr lang="en-US" sz="3604" b="1" dirty="0">
                <a:solidFill>
                  <a:schemeClr val="accent6">
                    <a:lumMod val="20000"/>
                    <a:lumOff val="80000"/>
                  </a:schemeClr>
                </a:solidFill>
                <a:latin typeface="Times New Roman Bold"/>
                <a:ea typeface="Times New Roman Bold"/>
                <a:cs typeface="Times New Roman Bold"/>
                <a:sym typeface="Times New Roman Bold"/>
              </a:rPr>
              <a:t>                   Pip install seaborn </a:t>
            </a:r>
          </a:p>
          <a:p>
            <a:pPr algn="just">
              <a:lnSpc>
                <a:spcPts val="5046"/>
              </a:lnSpc>
            </a:pPr>
            <a:endParaRPr lang="en-US" sz="3604" b="1" dirty="0">
              <a:solidFill>
                <a:srgbClr val="CCEB0C"/>
              </a:solidFill>
              <a:latin typeface="Times New Roman Bold"/>
              <a:ea typeface="Times New Roman Bold"/>
              <a:cs typeface="Times New Roman Bold"/>
              <a:sym typeface="Times New Roman Bold"/>
            </a:endParaRPr>
          </a:p>
          <a:p>
            <a:pPr marL="778280" lvl="1" indent="-389140" algn="l">
              <a:lnSpc>
                <a:spcPts val="5046"/>
              </a:lnSpc>
              <a:buFont typeface="Arial"/>
              <a:buChar char="•"/>
            </a:pPr>
            <a:r>
              <a:rPr lang="en-US" sz="3604" b="1" dirty="0">
                <a:solidFill>
                  <a:srgbClr val="FFFF00"/>
                </a:solidFill>
                <a:latin typeface="Times New Roman Bold"/>
                <a:ea typeface="Times New Roman Bold"/>
                <a:cs typeface="Times New Roman Bold"/>
                <a:sym typeface="Times New Roman Bold"/>
              </a:rPr>
              <a:t>HARDWARE REQUIREMNTS </a:t>
            </a:r>
            <a:r>
              <a:rPr lang="en-US" sz="3604" b="1" dirty="0">
                <a:solidFill>
                  <a:srgbClr val="CCEB0C"/>
                </a:solidFill>
                <a:latin typeface="Times New Roman Bold"/>
                <a:ea typeface="Times New Roman Bold"/>
                <a:cs typeface="Times New Roman Bold"/>
                <a:sym typeface="Times New Roman Bold"/>
              </a:rPr>
              <a:t>:</a:t>
            </a:r>
          </a:p>
          <a:p>
            <a:pPr marL="389140" lvl="1" algn="just">
              <a:lnSpc>
                <a:spcPts val="5046"/>
              </a:lnSpc>
            </a:pPr>
            <a:r>
              <a:rPr lang="en-US" sz="3604" b="1" dirty="0">
                <a:solidFill>
                  <a:srgbClr val="CCEB0C"/>
                </a:solidFill>
                <a:latin typeface="Times New Roman Bold"/>
                <a:ea typeface="Times New Roman Bold"/>
                <a:cs typeface="Times New Roman Bold"/>
                <a:sym typeface="Times New Roman Bold"/>
              </a:rPr>
              <a:t>        </a:t>
            </a:r>
            <a:r>
              <a:rPr lang="en-US" sz="3604" b="1" dirty="0">
                <a:solidFill>
                  <a:schemeClr val="accent6">
                    <a:lumMod val="20000"/>
                    <a:lumOff val="80000"/>
                  </a:schemeClr>
                </a:solidFill>
                <a:latin typeface="Times New Roman Bold"/>
                <a:ea typeface="Times New Roman Bold"/>
                <a:cs typeface="Times New Roman Bold"/>
                <a:sym typeface="Times New Roman Bold"/>
              </a:rPr>
              <a:t>IDE – </a:t>
            </a:r>
            <a:r>
              <a:rPr lang="en-US" sz="3604" b="1" dirty="0" err="1">
                <a:solidFill>
                  <a:schemeClr val="accent6">
                    <a:lumMod val="20000"/>
                    <a:lumOff val="80000"/>
                  </a:schemeClr>
                </a:solidFill>
                <a:latin typeface="Times New Roman Bold"/>
                <a:ea typeface="Times New Roman Bold"/>
                <a:cs typeface="Times New Roman Bold"/>
                <a:sym typeface="Times New Roman Bold"/>
              </a:rPr>
              <a:t>Jupyter</a:t>
            </a:r>
            <a:r>
              <a:rPr lang="en-US" sz="3604" b="1" dirty="0">
                <a:solidFill>
                  <a:schemeClr val="accent6">
                    <a:lumMod val="20000"/>
                    <a:lumOff val="80000"/>
                  </a:schemeClr>
                </a:solidFill>
                <a:latin typeface="Times New Roman Bold"/>
                <a:ea typeface="Times New Roman Bold"/>
                <a:cs typeface="Times New Roman Bold"/>
                <a:sym typeface="Times New Roman Bold"/>
              </a:rPr>
              <a:t> Notebook</a:t>
            </a:r>
          </a:p>
          <a:p>
            <a:pPr marL="389140" lvl="1" algn="just">
              <a:lnSpc>
                <a:spcPts val="5046"/>
              </a:lnSpc>
            </a:pPr>
            <a:r>
              <a:rPr lang="en-US" sz="3604" b="1" dirty="0">
                <a:solidFill>
                  <a:schemeClr val="accent6">
                    <a:lumMod val="20000"/>
                    <a:lumOff val="80000"/>
                  </a:schemeClr>
                </a:solidFill>
                <a:latin typeface="Times New Roman Bold"/>
                <a:ea typeface="Times New Roman Bold"/>
                <a:cs typeface="Times New Roman Bold"/>
                <a:sym typeface="Times New Roman Bold"/>
              </a:rPr>
              <a:t>        Storage Space – free storage space enough for running on machine</a:t>
            </a:r>
          </a:p>
          <a:p>
            <a:pPr algn="just">
              <a:lnSpc>
                <a:spcPts val="5046"/>
              </a:lnSpc>
              <a:spcBef>
                <a:spcPct val="0"/>
              </a:spcBef>
            </a:pPr>
            <a:endParaRPr lang="en-US" sz="3604" b="1" dirty="0">
              <a:solidFill>
                <a:srgbClr val="CCEB0C"/>
              </a:solidFill>
              <a:latin typeface="Times New Roman Bold"/>
              <a:ea typeface="Times New Roman Bold"/>
              <a:cs typeface="Times New Roman Bold"/>
              <a:sym typeface="Times New Roman Bold"/>
            </a:endParaRPr>
          </a:p>
        </p:txBody>
      </p:sp>
      <p:sp>
        <p:nvSpPr>
          <p:cNvPr id="6" name="Freeform 6">
            <a:extLst>
              <a:ext uri="{C183D7F6-B498-43B3-948B-1728B52AA6E4}">
                <adec:decorative xmlns:adec="http://schemas.microsoft.com/office/drawing/2017/decorative" val="1"/>
              </a:ext>
            </a:extLst>
          </p:cNvPr>
          <p:cNvSpPr/>
          <p:nvPr/>
        </p:nvSpPr>
        <p:spPr>
          <a:xfrm>
            <a:off x="16328" y="8877824"/>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flipV="1">
            <a:off x="16436056" y="851757"/>
            <a:ext cx="2209800"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8" name="Freeform 8">
            <a:extLst>
              <a:ext uri="{C183D7F6-B498-43B3-948B-1728B52AA6E4}">
                <adec:decorative xmlns:adec="http://schemas.microsoft.com/office/drawing/2017/decorative" val="1"/>
              </a:ext>
            </a:extLst>
          </p:cNvPr>
          <p:cNvSpPr/>
          <p:nvPr/>
        </p:nvSpPr>
        <p:spPr>
          <a:xfrm rot="-10800000">
            <a:off x="16078150" y="-647700"/>
            <a:ext cx="2567706" cy="4301455"/>
          </a:xfrm>
          <a:custGeom>
            <a:avLst/>
            <a:gdLst/>
            <a:ahLst/>
            <a:cxnLst/>
            <a:rect l="l" t="t" r="r" b="b"/>
            <a:pathLst>
              <a:path w="3274057" h="4301455">
                <a:moveTo>
                  <a:pt x="3274058" y="0"/>
                </a:moveTo>
                <a:lnTo>
                  <a:pt x="0" y="0"/>
                </a:lnTo>
                <a:lnTo>
                  <a:pt x="0" y="4301456"/>
                </a:lnTo>
                <a:lnTo>
                  <a:pt x="3274058" y="4301456"/>
                </a:lnTo>
                <a:lnTo>
                  <a:pt x="327405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a:extLst>
              <a:ext uri="{C183D7F6-B498-43B3-948B-1728B52AA6E4}">
                <adec:decorative xmlns:adec="http://schemas.microsoft.com/office/drawing/2017/decorative" val="1"/>
              </a:ext>
            </a:extLst>
          </p:cNvPr>
          <p:cNvSpPr/>
          <p:nvPr/>
        </p:nvSpPr>
        <p:spPr>
          <a:xfrm rot="-10800000" flipH="1" flipV="1">
            <a:off x="16329" y="6644006"/>
            <a:ext cx="1981200"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a:extLst>
              <a:ext uri="{C183D7F6-B498-43B3-948B-1728B52AA6E4}">
                <adec:decorative xmlns:adec="http://schemas.microsoft.com/office/drawing/2017/decorative" val="1"/>
              </a:ext>
            </a:extLst>
          </p:cNvPr>
          <p:cNvSpPr/>
          <p:nvPr/>
        </p:nvSpPr>
        <p:spPr>
          <a:xfrm>
            <a:off x="-979663" y="6573709"/>
            <a:ext cx="297175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62322" y="-44719"/>
            <a:ext cx="18350322" cy="1826309"/>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C183D7F6-B498-43B3-948B-1728B52AA6E4}">
                <adec:decorative xmlns:adec="http://schemas.microsoft.com/office/drawing/2017/decorative" val="1"/>
              </a:ext>
            </a:extLst>
          </p:cNvPr>
          <p:cNvSpPr/>
          <p:nvPr/>
        </p:nvSpPr>
        <p:spPr>
          <a:xfrm rot="-10800000" flipH="1" flipV="1">
            <a:off x="-62321" y="7824917"/>
            <a:ext cx="2182042" cy="2866766"/>
          </a:xfrm>
          <a:custGeom>
            <a:avLst/>
            <a:gdLst/>
            <a:ahLst/>
            <a:cxnLst/>
            <a:rect l="l" t="t" r="r" b="b"/>
            <a:pathLst>
              <a:path w="2182042" h="2866766">
                <a:moveTo>
                  <a:pt x="2182042" y="2866766"/>
                </a:moveTo>
                <a:lnTo>
                  <a:pt x="0" y="2866766"/>
                </a:lnTo>
                <a:lnTo>
                  <a:pt x="0" y="0"/>
                </a:lnTo>
                <a:lnTo>
                  <a:pt x="2182042" y="0"/>
                </a:lnTo>
                <a:lnTo>
                  <a:pt x="2182042" y="286676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flipH="1" flipV="1">
            <a:off x="-62321" y="7813160"/>
            <a:ext cx="2182042" cy="2866766"/>
          </a:xfrm>
          <a:custGeom>
            <a:avLst/>
            <a:gdLst/>
            <a:ahLst/>
            <a:cxnLst/>
            <a:rect l="l" t="t" r="r" b="b"/>
            <a:pathLst>
              <a:path w="2182042" h="2866766">
                <a:moveTo>
                  <a:pt x="2182041" y="2866766"/>
                </a:moveTo>
                <a:lnTo>
                  <a:pt x="0" y="2866766"/>
                </a:lnTo>
                <a:lnTo>
                  <a:pt x="0" y="0"/>
                </a:lnTo>
                <a:lnTo>
                  <a:pt x="2182041" y="0"/>
                </a:lnTo>
                <a:lnTo>
                  <a:pt x="2182041" y="286676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rot="-10800000" flipH="1" flipV="1">
            <a:off x="15977778" y="348207"/>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flipH="1" flipV="1">
            <a:off x="16036425" y="-44719"/>
            <a:ext cx="2182042" cy="2866766"/>
          </a:xfrm>
          <a:custGeom>
            <a:avLst/>
            <a:gdLst/>
            <a:ahLst/>
            <a:cxnLst/>
            <a:rect l="l" t="t" r="r" b="b"/>
            <a:pathLst>
              <a:path w="2182042" h="2866766">
                <a:moveTo>
                  <a:pt x="2182042" y="2866766"/>
                </a:moveTo>
                <a:lnTo>
                  <a:pt x="0" y="2866766"/>
                </a:lnTo>
                <a:lnTo>
                  <a:pt x="0" y="0"/>
                </a:lnTo>
                <a:lnTo>
                  <a:pt x="2182042" y="0"/>
                </a:lnTo>
                <a:lnTo>
                  <a:pt x="2182042" y="286676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795344" y="1977437"/>
            <a:ext cx="15273455" cy="7269106"/>
          </a:xfrm>
          <a:prstGeom prst="rect">
            <a:avLst/>
          </a:prstGeom>
        </p:spPr>
        <p:txBody>
          <a:bodyPr wrap="square" lIns="0" tIns="0" rIns="0" bIns="0" rtlCol="0" anchor="t">
            <a:spAutoFit/>
          </a:bodyPr>
          <a:lstStyle/>
          <a:p>
            <a:pPr marL="583725" lvl="1" indent="-291863" algn="just">
              <a:lnSpc>
                <a:spcPts val="3785"/>
              </a:lnSpc>
              <a:buFont typeface="Arial"/>
              <a:buChar char="•"/>
            </a:pPr>
            <a:r>
              <a:rPr lang="en-US" sz="4000" b="1" dirty="0">
                <a:solidFill>
                  <a:schemeClr val="accent6">
                    <a:lumMod val="20000"/>
                    <a:lumOff val="80000"/>
                  </a:schemeClr>
                </a:solidFill>
                <a:latin typeface="Times New Roman Bold"/>
                <a:ea typeface="Times New Roman Bold"/>
                <a:cs typeface="Times New Roman Bold"/>
                <a:sym typeface="Times New Roman Bold"/>
              </a:rPr>
              <a:t>The architecture of the hotel booking analysis using Python, Matplotlib, and Pandas involves several key steps that form a cohesive workflow.</a:t>
            </a:r>
          </a:p>
          <a:p>
            <a:pPr algn="just">
              <a:lnSpc>
                <a:spcPts val="3785"/>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583725" lvl="1" indent="-291863" algn="just">
              <a:lnSpc>
                <a:spcPts val="3785"/>
              </a:lnSpc>
              <a:buFont typeface="Arial"/>
              <a:buChar char="•"/>
            </a:pPr>
            <a:r>
              <a:rPr lang="en-US" sz="4000" b="1" dirty="0">
                <a:solidFill>
                  <a:schemeClr val="accent6">
                    <a:lumMod val="20000"/>
                    <a:lumOff val="80000"/>
                  </a:schemeClr>
                </a:solidFill>
                <a:latin typeface="Times New Roman Bold"/>
                <a:ea typeface="Times New Roman Bold"/>
                <a:cs typeface="Times New Roman Bold"/>
                <a:sym typeface="Times New Roman Bold"/>
              </a:rPr>
              <a:t> The process typically includes data acquisition, data     preprocessing, data visualization.</a:t>
            </a:r>
          </a:p>
          <a:p>
            <a:pPr algn="just">
              <a:lnSpc>
                <a:spcPts val="3785"/>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3785"/>
              </a:lnSpc>
            </a:pPr>
            <a:r>
              <a:rPr lang="en-US" sz="4000" b="1">
                <a:solidFill>
                  <a:schemeClr val="accent6">
                    <a:lumMod val="20000"/>
                    <a:lumOff val="80000"/>
                  </a:schemeClr>
                </a:solidFill>
                <a:latin typeface="Times New Roman Bold"/>
                <a:ea typeface="Times New Roman Bold"/>
                <a:cs typeface="Times New Roman Bold"/>
                <a:sym typeface="Times New Roman Bold"/>
              </a:rPr>
              <a:t>  Let's </a:t>
            </a:r>
            <a:r>
              <a:rPr lang="en-US" sz="4000" b="1" dirty="0">
                <a:solidFill>
                  <a:schemeClr val="accent6">
                    <a:lumMod val="20000"/>
                    <a:lumOff val="80000"/>
                  </a:schemeClr>
                </a:solidFill>
                <a:latin typeface="Times New Roman Bold"/>
                <a:ea typeface="Times New Roman Bold"/>
                <a:cs typeface="Times New Roman Bold"/>
                <a:sym typeface="Times New Roman Bold"/>
              </a:rPr>
              <a:t>explore the architecture in more detail:</a:t>
            </a:r>
          </a:p>
          <a:p>
            <a:pPr algn="just">
              <a:lnSpc>
                <a:spcPts val="3785"/>
              </a:lnSpc>
            </a:pPr>
            <a:endParaRPr lang="en-US" sz="4000" b="1" dirty="0">
              <a:solidFill>
                <a:schemeClr val="accent6">
                  <a:lumMod val="20000"/>
                  <a:lumOff val="80000"/>
                </a:schemeClr>
              </a:solidFill>
              <a:latin typeface="Times New Roman Bold"/>
              <a:ea typeface="Times New Roman Bold"/>
              <a:cs typeface="Times New Roman Bold"/>
              <a:sym typeface="Times New Roman Bold"/>
            </a:endParaRPr>
          </a:p>
          <a:p>
            <a:pPr marL="583725" lvl="1" indent="-291863" algn="just">
              <a:lnSpc>
                <a:spcPts val="3785"/>
              </a:lnSpc>
              <a:buAutoNum type="arabicPeriod"/>
            </a:pPr>
            <a:r>
              <a:rPr lang="en-US" sz="4000" b="1" dirty="0">
                <a:solidFill>
                  <a:schemeClr val="accent6">
                    <a:lumMod val="20000"/>
                    <a:lumOff val="80000"/>
                  </a:schemeClr>
                </a:solidFill>
                <a:latin typeface="Times New Roman Bold"/>
                <a:ea typeface="Times New Roman Bold"/>
                <a:cs typeface="Times New Roman Bold"/>
                <a:sym typeface="Times New Roman Bold"/>
              </a:rPr>
              <a:t>IMPORTING DATASET</a:t>
            </a:r>
          </a:p>
          <a:p>
            <a:pPr marL="583725" lvl="1" indent="-291863" algn="just">
              <a:lnSpc>
                <a:spcPts val="3785"/>
              </a:lnSpc>
              <a:buAutoNum type="arabicPeriod"/>
            </a:pPr>
            <a:r>
              <a:rPr lang="en-US" sz="4000" b="1" dirty="0">
                <a:solidFill>
                  <a:schemeClr val="accent6">
                    <a:lumMod val="20000"/>
                    <a:lumOff val="80000"/>
                  </a:schemeClr>
                </a:solidFill>
                <a:latin typeface="Times New Roman Bold"/>
                <a:ea typeface="Times New Roman Bold"/>
                <a:cs typeface="Times New Roman Bold"/>
                <a:sym typeface="Times New Roman Bold"/>
              </a:rPr>
              <a:t>DATA FILTERING</a:t>
            </a:r>
          </a:p>
          <a:p>
            <a:pPr marL="583725" lvl="1" indent="-291863" algn="just">
              <a:lnSpc>
                <a:spcPts val="3785"/>
              </a:lnSpc>
              <a:buAutoNum type="arabicPeriod"/>
            </a:pPr>
            <a:r>
              <a:rPr lang="en-US" sz="4000" b="1" dirty="0">
                <a:solidFill>
                  <a:schemeClr val="accent6">
                    <a:lumMod val="20000"/>
                    <a:lumOff val="80000"/>
                  </a:schemeClr>
                </a:solidFill>
                <a:latin typeface="Times New Roman Bold"/>
                <a:ea typeface="Times New Roman Bold"/>
                <a:cs typeface="Times New Roman Bold"/>
                <a:sym typeface="Times New Roman Bold"/>
              </a:rPr>
              <a:t>DATA CLEANING</a:t>
            </a:r>
          </a:p>
          <a:p>
            <a:pPr marL="583725" lvl="1" indent="-291863" algn="just">
              <a:lnSpc>
                <a:spcPts val="3785"/>
              </a:lnSpc>
              <a:buAutoNum type="arabicPeriod"/>
            </a:pPr>
            <a:r>
              <a:rPr lang="en-US" sz="4000" b="1" dirty="0">
                <a:solidFill>
                  <a:schemeClr val="accent6">
                    <a:lumMod val="20000"/>
                    <a:lumOff val="80000"/>
                  </a:schemeClr>
                </a:solidFill>
                <a:latin typeface="Times New Roman Bold"/>
                <a:ea typeface="Times New Roman Bold"/>
                <a:cs typeface="Times New Roman Bold"/>
                <a:sym typeface="Times New Roman Bold"/>
              </a:rPr>
              <a:t>DATA GROUPING</a:t>
            </a:r>
          </a:p>
          <a:p>
            <a:pPr marL="583725" lvl="1" indent="-291863" algn="just">
              <a:lnSpc>
                <a:spcPts val="3785"/>
              </a:lnSpc>
              <a:buAutoNum type="arabicPeriod"/>
            </a:pPr>
            <a:r>
              <a:rPr lang="en-US" sz="4000" b="1" dirty="0">
                <a:solidFill>
                  <a:schemeClr val="accent6">
                    <a:lumMod val="20000"/>
                    <a:lumOff val="80000"/>
                  </a:schemeClr>
                </a:solidFill>
                <a:latin typeface="Times New Roman Bold"/>
                <a:ea typeface="Times New Roman Bold"/>
                <a:cs typeface="Times New Roman Bold"/>
                <a:sym typeface="Times New Roman Bold"/>
              </a:rPr>
              <a:t>DATA VISUALISATION</a:t>
            </a:r>
          </a:p>
          <a:p>
            <a:pPr algn="just">
              <a:lnSpc>
                <a:spcPts val="3785"/>
              </a:lnSpc>
              <a:spcBef>
                <a:spcPct val="0"/>
              </a:spcBef>
            </a:pPr>
            <a:endParaRPr lang="en-US" sz="2703" b="1" dirty="0">
              <a:solidFill>
                <a:srgbClr val="CCEB0C"/>
              </a:solidFill>
              <a:latin typeface="Times New Roman Bold"/>
              <a:ea typeface="Times New Roman Bold"/>
              <a:cs typeface="Times New Roman Bold"/>
              <a:sym typeface="Times New Roman Bold"/>
            </a:endParaRPr>
          </a:p>
        </p:txBody>
      </p:sp>
      <p:sp>
        <p:nvSpPr>
          <p:cNvPr id="8" name="TextBox 8"/>
          <p:cNvSpPr txBox="1"/>
          <p:nvPr/>
        </p:nvSpPr>
        <p:spPr>
          <a:xfrm>
            <a:off x="4795158" y="173806"/>
            <a:ext cx="8719027" cy="2708798"/>
          </a:xfrm>
          <a:prstGeom prst="rect">
            <a:avLst/>
          </a:prstGeom>
        </p:spPr>
        <p:txBody>
          <a:bodyPr lIns="0" tIns="0" rIns="0" bIns="0" rtlCol="0" anchor="t">
            <a:spAutoFit/>
          </a:bodyPr>
          <a:lstStyle/>
          <a:p>
            <a:pPr algn="ctr">
              <a:lnSpc>
                <a:spcPts val="10296"/>
              </a:lnSpc>
            </a:pPr>
            <a:r>
              <a:rPr lang="en-US" sz="7354" b="1" dirty="0">
                <a:solidFill>
                  <a:srgbClr val="D7FDFF"/>
                </a:solidFill>
                <a:latin typeface="Alegreya Sans SC Bold"/>
                <a:ea typeface="Alegreya Sans SC Bold"/>
                <a:cs typeface="Alegreya Sans SC Bold"/>
                <a:sym typeface="Alegreya Sans SC Bold"/>
              </a:rPr>
              <a:t>ARCHITECTURE</a:t>
            </a:r>
          </a:p>
          <a:p>
            <a:pPr algn="ctr">
              <a:lnSpc>
                <a:spcPts val="10296"/>
              </a:lnSpc>
              <a:spcBef>
                <a:spcPct val="0"/>
              </a:spcBef>
            </a:pPr>
            <a:endParaRPr lang="en-US" sz="7354" b="1" dirty="0">
              <a:solidFill>
                <a:srgbClr val="D7FDFF"/>
              </a:solidFill>
              <a:latin typeface="Alegreya Sans SC Bold"/>
              <a:ea typeface="Alegreya Sans SC Bold"/>
              <a:cs typeface="Alegreya Sans SC Bold"/>
              <a:sym typeface="Alegreya Sans SC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0" y="8204982"/>
            <a:ext cx="18288000" cy="4164037"/>
          </a:xfrm>
          <a:custGeom>
            <a:avLst/>
            <a:gdLst/>
            <a:ahLst/>
            <a:cxnLst/>
            <a:rect l="l" t="t" r="r" b="b"/>
            <a:pathLst>
              <a:path w="18288000" h="4164037">
                <a:moveTo>
                  <a:pt x="0" y="0"/>
                </a:moveTo>
                <a:lnTo>
                  <a:pt x="18288000" y="0"/>
                </a:lnTo>
                <a:lnTo>
                  <a:pt x="18288000" y="4164036"/>
                </a:lnTo>
                <a:lnTo>
                  <a:pt x="0" y="4164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3024" y="2420548"/>
            <a:ext cx="13163633" cy="4847481"/>
          </a:xfrm>
          <a:prstGeom prst="rect">
            <a:avLst/>
          </a:prstGeom>
        </p:spPr>
        <p:txBody>
          <a:bodyPr lIns="0" tIns="0" rIns="0" bIns="0" rtlCol="0" anchor="t">
            <a:spAutoFit/>
          </a:bodyPr>
          <a:lstStyle/>
          <a:p>
            <a:pPr algn="l">
              <a:lnSpc>
                <a:spcPts val="4190"/>
              </a:lnSpc>
            </a:pPr>
            <a:r>
              <a:rPr lang="en-US" sz="3600" b="1" dirty="0">
                <a:solidFill>
                  <a:schemeClr val="accent6">
                    <a:lumMod val="20000"/>
                    <a:lumOff val="80000"/>
                  </a:schemeClr>
                </a:solidFill>
                <a:latin typeface="Times New Roman Bold"/>
                <a:ea typeface="Times New Roman Bold"/>
                <a:cs typeface="Times New Roman Bold"/>
                <a:sym typeface="Times New Roman Bold"/>
              </a:rPr>
              <a:t>The project begins with data collection, where the Hotel Booking Dataset is sourced from reliable repositories or research databases. The dataset is then loaded into the Python environment using the Pandas library, creating a structured </a:t>
            </a:r>
            <a:r>
              <a:rPr lang="en-US" sz="3600" b="1" dirty="0" err="1">
                <a:solidFill>
                  <a:schemeClr val="accent6">
                    <a:lumMod val="20000"/>
                    <a:lumOff val="80000"/>
                  </a:schemeClr>
                </a:solidFill>
                <a:latin typeface="Times New Roman Bold"/>
                <a:ea typeface="Times New Roman Bold"/>
                <a:cs typeface="Times New Roman Bold"/>
                <a:sym typeface="Times New Roman Bold"/>
              </a:rPr>
              <a:t>DataFrame</a:t>
            </a:r>
            <a:r>
              <a:rPr lang="en-US" sz="3600" b="1" dirty="0">
                <a:solidFill>
                  <a:schemeClr val="accent6">
                    <a:lumMod val="20000"/>
                    <a:lumOff val="80000"/>
                  </a:schemeClr>
                </a:solidFill>
                <a:latin typeface="Times New Roman Bold"/>
                <a:ea typeface="Times New Roman Bold"/>
                <a:cs typeface="Times New Roman Bold"/>
                <a:sym typeface="Times New Roman Bold"/>
              </a:rPr>
              <a:t> for efficient data handling</a:t>
            </a:r>
          </a:p>
          <a:p>
            <a:pPr algn="ctr">
              <a:lnSpc>
                <a:spcPts val="4190"/>
              </a:lnSpc>
            </a:pPr>
            <a:endParaRPr lang="en-US" sz="3600" b="1" dirty="0">
              <a:solidFill>
                <a:schemeClr val="accent6">
                  <a:lumMod val="20000"/>
                  <a:lumOff val="80000"/>
                </a:schemeClr>
              </a:solidFill>
              <a:latin typeface="Times New Roman Bold"/>
              <a:ea typeface="Times New Roman Bold"/>
              <a:cs typeface="Times New Roman Bold"/>
              <a:sym typeface="Times New Roman Bold"/>
            </a:endParaRPr>
          </a:p>
          <a:p>
            <a:pPr algn="ctr">
              <a:lnSpc>
                <a:spcPts val="4190"/>
              </a:lnSpc>
            </a:pPr>
            <a:endParaRPr lang="en-US" sz="3600" b="1" dirty="0">
              <a:solidFill>
                <a:schemeClr val="accent6">
                  <a:lumMod val="20000"/>
                  <a:lumOff val="80000"/>
                </a:schemeClr>
              </a:solidFill>
              <a:latin typeface="Times New Roman Bold"/>
              <a:ea typeface="Times New Roman Bold"/>
              <a:cs typeface="Times New Roman Bold"/>
              <a:sym typeface="Times New Roman Bold"/>
            </a:endParaRPr>
          </a:p>
          <a:p>
            <a:pPr algn="ctr">
              <a:lnSpc>
                <a:spcPts val="4190"/>
              </a:lnSpc>
            </a:pPr>
            <a:endParaRPr lang="en-US" sz="3600" b="1" dirty="0">
              <a:solidFill>
                <a:schemeClr val="accent6">
                  <a:lumMod val="20000"/>
                  <a:lumOff val="80000"/>
                </a:schemeClr>
              </a:solidFill>
              <a:latin typeface="Times New Roman Bold"/>
              <a:ea typeface="Times New Roman Bold"/>
              <a:cs typeface="Times New Roman Bold"/>
              <a:sym typeface="Times New Roman Bold"/>
            </a:endParaRPr>
          </a:p>
          <a:p>
            <a:pPr algn="just">
              <a:lnSpc>
                <a:spcPts val="4190"/>
              </a:lnSpc>
              <a:spcBef>
                <a:spcPct val="0"/>
              </a:spcBef>
            </a:pPr>
            <a:endParaRPr lang="en-US" sz="3600" b="1" dirty="0">
              <a:solidFill>
                <a:schemeClr val="accent6">
                  <a:lumMod val="20000"/>
                  <a:lumOff val="80000"/>
                </a:schemeClr>
              </a:solidFill>
              <a:latin typeface="Times New Roman Bold"/>
              <a:ea typeface="Times New Roman Bold"/>
              <a:cs typeface="Times New Roman Bold"/>
              <a:sym typeface="Times New Roman Bold"/>
            </a:endParaRPr>
          </a:p>
        </p:txBody>
      </p:sp>
      <p:sp>
        <p:nvSpPr>
          <p:cNvPr id="4" name="Freeform 4">
            <a:extLst>
              <a:ext uri="{C183D7F6-B498-43B3-948B-1728B52AA6E4}">
                <adec:decorative xmlns:adec="http://schemas.microsoft.com/office/drawing/2017/decorative" val="1"/>
              </a:ext>
            </a:extLst>
          </p:cNvPr>
          <p:cNvSpPr/>
          <p:nvPr/>
        </p:nvSpPr>
        <p:spPr>
          <a:xfrm flipV="1">
            <a:off x="15548065" y="6970644"/>
            <a:ext cx="2300142" cy="3021926"/>
          </a:xfrm>
          <a:custGeom>
            <a:avLst/>
            <a:gdLst/>
            <a:ahLst/>
            <a:cxnLst/>
            <a:rect l="l" t="t" r="r" b="b"/>
            <a:pathLst>
              <a:path w="2300142" h="3021926">
                <a:moveTo>
                  <a:pt x="0" y="3021926"/>
                </a:moveTo>
                <a:lnTo>
                  <a:pt x="2300142" y="3021926"/>
                </a:lnTo>
                <a:lnTo>
                  <a:pt x="2300142" y="0"/>
                </a:lnTo>
                <a:lnTo>
                  <a:pt x="0" y="0"/>
                </a:lnTo>
                <a:lnTo>
                  <a:pt x="0" y="302192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rot="-10800000" flipV="1">
            <a:off x="15372969" y="5781025"/>
            <a:ext cx="3772662" cy="4956521"/>
          </a:xfrm>
          <a:custGeom>
            <a:avLst/>
            <a:gdLst/>
            <a:ahLst/>
            <a:cxnLst/>
            <a:rect l="l" t="t" r="r" b="b"/>
            <a:pathLst>
              <a:path w="3772662" h="4956521">
                <a:moveTo>
                  <a:pt x="0" y="4956522"/>
                </a:moveTo>
                <a:lnTo>
                  <a:pt x="3772662" y="4956522"/>
                </a:lnTo>
                <a:lnTo>
                  <a:pt x="3772662" y="0"/>
                </a:lnTo>
                <a:lnTo>
                  <a:pt x="0" y="0"/>
                </a:lnTo>
                <a:lnTo>
                  <a:pt x="0" y="495652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a:off x="-3209211" y="1721233"/>
            <a:ext cx="6538053" cy="6538053"/>
          </a:xfrm>
          <a:custGeom>
            <a:avLst/>
            <a:gdLst/>
            <a:ahLst/>
            <a:cxnLst/>
            <a:rect l="l" t="t" r="r" b="b"/>
            <a:pathLst>
              <a:path w="6538053" h="6538053">
                <a:moveTo>
                  <a:pt x="0" y="0"/>
                </a:moveTo>
                <a:lnTo>
                  <a:pt x="6538053" y="0"/>
                </a:lnTo>
                <a:lnTo>
                  <a:pt x="6538053"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028700" y="-89169"/>
            <a:ext cx="2300142" cy="3021926"/>
          </a:xfrm>
          <a:custGeom>
            <a:avLst/>
            <a:gdLst/>
            <a:ahLst/>
            <a:cxnLst/>
            <a:rect l="l" t="t" r="r" b="b"/>
            <a:pathLst>
              <a:path w="2300142" h="3021926">
                <a:moveTo>
                  <a:pt x="2300142" y="0"/>
                </a:moveTo>
                <a:lnTo>
                  <a:pt x="0" y="0"/>
                </a:lnTo>
                <a:lnTo>
                  <a:pt x="0" y="3021926"/>
                </a:lnTo>
                <a:lnTo>
                  <a:pt x="2300142" y="3021926"/>
                </a:lnTo>
                <a:lnTo>
                  <a:pt x="230014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C183D7F6-B498-43B3-948B-1728B52AA6E4}">
                <adec:decorative xmlns:adec="http://schemas.microsoft.com/office/drawing/2017/decorative" val="1"/>
              </a:ext>
            </a:extLst>
          </p:cNvPr>
          <p:cNvSpPr/>
          <p:nvPr/>
        </p:nvSpPr>
        <p:spPr>
          <a:xfrm rot="-10800000" flipH="1">
            <a:off x="-857631" y="-757028"/>
            <a:ext cx="3772662" cy="4956521"/>
          </a:xfrm>
          <a:custGeom>
            <a:avLst/>
            <a:gdLst/>
            <a:ahLst/>
            <a:cxnLst/>
            <a:rect l="l" t="t" r="r" b="b"/>
            <a:pathLst>
              <a:path w="3772662" h="4956521">
                <a:moveTo>
                  <a:pt x="3772662" y="0"/>
                </a:moveTo>
                <a:lnTo>
                  <a:pt x="0" y="0"/>
                </a:lnTo>
                <a:lnTo>
                  <a:pt x="0" y="4956522"/>
                </a:lnTo>
                <a:lnTo>
                  <a:pt x="3772662" y="4956522"/>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a:extLst>
              <a:ext uri="{C183D7F6-B498-43B3-948B-1728B52AA6E4}">
                <adec:decorative xmlns:adec="http://schemas.microsoft.com/office/drawing/2017/decorative" val="1"/>
              </a:ext>
            </a:extLst>
          </p:cNvPr>
          <p:cNvSpPr/>
          <p:nvPr/>
        </p:nvSpPr>
        <p:spPr>
          <a:xfrm>
            <a:off x="14960838" y="2114073"/>
            <a:ext cx="6538053" cy="6538053"/>
          </a:xfrm>
          <a:custGeom>
            <a:avLst/>
            <a:gdLst/>
            <a:ahLst/>
            <a:cxnLst/>
            <a:rect l="l" t="t" r="r" b="b"/>
            <a:pathLst>
              <a:path w="6538053" h="6538053">
                <a:moveTo>
                  <a:pt x="0" y="0"/>
                </a:moveTo>
                <a:lnTo>
                  <a:pt x="6538054" y="0"/>
                </a:lnTo>
                <a:lnTo>
                  <a:pt x="6538054"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5651734" y="5383099"/>
            <a:ext cx="5641141" cy="1717791"/>
          </a:xfrm>
          <a:custGeom>
            <a:avLst/>
            <a:gdLst/>
            <a:ahLst/>
            <a:cxnLst/>
            <a:rect l="l" t="t" r="r" b="b"/>
            <a:pathLst>
              <a:path w="5641141" h="1717791">
                <a:moveTo>
                  <a:pt x="0" y="0"/>
                </a:moveTo>
                <a:lnTo>
                  <a:pt x="5641141" y="0"/>
                </a:lnTo>
                <a:lnTo>
                  <a:pt x="5641141" y="1717791"/>
                </a:lnTo>
                <a:lnTo>
                  <a:pt x="0" y="1717791"/>
                </a:lnTo>
                <a:lnTo>
                  <a:pt x="0" y="0"/>
                </a:lnTo>
                <a:close/>
              </a:path>
            </a:pathLst>
          </a:custGeom>
          <a:blipFill>
            <a:blip r:embed="rId8"/>
            <a:stretch>
              <a:fillRect/>
            </a:stretch>
          </a:blipFill>
        </p:spPr>
      </p:sp>
      <p:sp>
        <p:nvSpPr>
          <p:cNvPr id="11" name="Freeform 11"/>
          <p:cNvSpPr/>
          <p:nvPr/>
        </p:nvSpPr>
        <p:spPr>
          <a:xfrm>
            <a:off x="4119872" y="7666766"/>
            <a:ext cx="8704863" cy="1336924"/>
          </a:xfrm>
          <a:custGeom>
            <a:avLst/>
            <a:gdLst/>
            <a:ahLst/>
            <a:cxnLst/>
            <a:rect l="l" t="t" r="r" b="b"/>
            <a:pathLst>
              <a:path w="8704863" h="1336924">
                <a:moveTo>
                  <a:pt x="0" y="0"/>
                </a:moveTo>
                <a:lnTo>
                  <a:pt x="8704863" y="0"/>
                </a:lnTo>
                <a:lnTo>
                  <a:pt x="8704863" y="1336924"/>
                </a:lnTo>
                <a:lnTo>
                  <a:pt x="0" y="1336924"/>
                </a:lnTo>
                <a:lnTo>
                  <a:pt x="0" y="0"/>
                </a:lnTo>
                <a:close/>
              </a:path>
            </a:pathLst>
          </a:custGeom>
          <a:blipFill>
            <a:blip r:embed="rId9"/>
            <a:stretch>
              <a:fillRect/>
            </a:stretch>
          </a:blipFill>
        </p:spPr>
        <p:txBody>
          <a:bodyPr/>
          <a:lstStyle/>
          <a:p>
            <a:endParaRPr lang="en-IN" dirty="0"/>
          </a:p>
        </p:txBody>
      </p:sp>
      <p:sp>
        <p:nvSpPr>
          <p:cNvPr id="12" name="TextBox 12"/>
          <p:cNvSpPr txBox="1"/>
          <p:nvPr/>
        </p:nvSpPr>
        <p:spPr>
          <a:xfrm>
            <a:off x="4785327" y="223959"/>
            <a:ext cx="8719027" cy="2708798"/>
          </a:xfrm>
          <a:prstGeom prst="rect">
            <a:avLst/>
          </a:prstGeom>
        </p:spPr>
        <p:txBody>
          <a:bodyPr lIns="0" tIns="0" rIns="0" bIns="0" rtlCol="0" anchor="t">
            <a:spAutoFit/>
          </a:bodyPr>
          <a:lstStyle/>
          <a:p>
            <a:pPr algn="ctr">
              <a:lnSpc>
                <a:spcPts val="10296"/>
              </a:lnSpc>
            </a:pPr>
            <a:r>
              <a:rPr lang="en-US" sz="7354" b="1">
                <a:solidFill>
                  <a:srgbClr val="D7FDFF"/>
                </a:solidFill>
                <a:latin typeface="Alegreya Sans SC Bold"/>
                <a:ea typeface="Alegreya Sans SC Bold"/>
                <a:cs typeface="Alegreya Sans SC Bold"/>
                <a:sym typeface="Alegreya Sans SC Bold"/>
              </a:rPr>
              <a:t>IMPORTING DATASET</a:t>
            </a:r>
          </a:p>
          <a:p>
            <a:pPr algn="ctr">
              <a:lnSpc>
                <a:spcPts val="10296"/>
              </a:lnSpc>
              <a:spcBef>
                <a:spcPct val="0"/>
              </a:spcBef>
            </a:pPr>
            <a:endParaRPr lang="en-US" sz="7354" b="1">
              <a:solidFill>
                <a:srgbClr val="D7FDFF"/>
              </a:solidFill>
              <a:latin typeface="Alegreya Sans SC Bold"/>
              <a:ea typeface="Alegreya Sans SC Bold"/>
              <a:cs typeface="Alegreya Sans SC Bold"/>
              <a:sym typeface="Alegreya Sans SC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09701" y="292023"/>
            <a:ext cx="14750948" cy="2654847"/>
          </a:xfrm>
          <a:prstGeom prst="rect">
            <a:avLst/>
          </a:prstGeom>
        </p:spPr>
        <p:txBody>
          <a:bodyPr lIns="0" tIns="0" rIns="0" bIns="0" rtlCol="0" anchor="t">
            <a:spAutoFit/>
          </a:bodyPr>
          <a:lstStyle/>
          <a:p>
            <a:pPr algn="ctr">
              <a:lnSpc>
                <a:spcPts val="10119"/>
              </a:lnSpc>
            </a:pPr>
            <a:r>
              <a:rPr lang="en-US" sz="7228" b="1">
                <a:solidFill>
                  <a:srgbClr val="D7FDFF"/>
                </a:solidFill>
                <a:latin typeface="Alegreya Sans SC Bold"/>
                <a:ea typeface="Alegreya Sans SC Bold"/>
                <a:cs typeface="Alegreya Sans SC Bold"/>
                <a:sym typeface="Alegreya Sans SC Bold"/>
              </a:rPr>
              <a:t>data filtering</a:t>
            </a:r>
          </a:p>
          <a:p>
            <a:pPr algn="ctr">
              <a:lnSpc>
                <a:spcPts val="10119"/>
              </a:lnSpc>
              <a:spcBef>
                <a:spcPct val="0"/>
              </a:spcBef>
            </a:pPr>
            <a:endParaRPr lang="en-US" sz="7228" b="1">
              <a:solidFill>
                <a:srgbClr val="D7FDFF"/>
              </a:solidFill>
              <a:latin typeface="Alegreya Sans SC Bold"/>
              <a:ea typeface="Alegreya Sans SC Bold"/>
              <a:cs typeface="Alegreya Sans SC Bold"/>
              <a:sym typeface="Alegreya Sans SC Bold"/>
            </a:endParaRPr>
          </a:p>
        </p:txBody>
      </p:sp>
      <p:sp>
        <p:nvSpPr>
          <p:cNvPr id="4" name="Freeform 4">
            <a:extLst>
              <a:ext uri="{C183D7F6-B498-43B3-948B-1728B52AA6E4}">
                <adec:decorative xmlns:adec="http://schemas.microsoft.com/office/drawing/2017/decorative" val="1"/>
              </a:ext>
            </a:extLst>
          </p:cNvPr>
          <p:cNvSpPr/>
          <p:nvPr/>
        </p:nvSpPr>
        <p:spPr>
          <a:xfrm>
            <a:off x="0" y="7878965"/>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197510" y="2894684"/>
            <a:ext cx="14408690" cy="4307132"/>
          </a:xfrm>
          <a:prstGeom prst="rect">
            <a:avLst/>
          </a:prstGeom>
        </p:spPr>
        <p:txBody>
          <a:bodyPr lIns="0" tIns="0" rIns="0" bIns="0" rtlCol="0" anchor="t">
            <a:spAutoFit/>
          </a:bodyPr>
          <a:lstStyle/>
          <a:p>
            <a:pPr algn="ctr">
              <a:lnSpc>
                <a:spcPts val="6724"/>
              </a:lnSpc>
              <a:spcBef>
                <a:spcPct val="0"/>
              </a:spcBef>
            </a:pPr>
            <a:r>
              <a:rPr lang="en-US" sz="4802" b="1">
                <a:solidFill>
                  <a:srgbClr val="D7FDFF"/>
                </a:solidFill>
                <a:latin typeface="Times New Roman Bold"/>
                <a:ea typeface="Times New Roman Bold"/>
                <a:cs typeface="Times New Roman Bold"/>
                <a:sym typeface="Times New Roman Bold"/>
              </a:rPr>
              <a:t>1 fulltime_h = ijm[(ijm['Job Type'] == 'Full-time') &amp; (ijm['Number of Applicants'] &gt; 100)]</a:t>
            </a:r>
          </a:p>
          <a:p>
            <a:pPr algn="ctr">
              <a:lnSpc>
                <a:spcPts val="6724"/>
              </a:lnSpc>
              <a:spcBef>
                <a:spcPct val="0"/>
              </a:spcBef>
            </a:pPr>
            <a:r>
              <a:rPr lang="en-US" sz="4802" b="1">
                <a:solidFill>
                  <a:srgbClr val="D7FDFF"/>
                </a:solidFill>
                <a:latin typeface="Times New Roman Bold"/>
                <a:ea typeface="Times New Roman Bold"/>
                <a:cs typeface="Times New Roman Bold"/>
                <a:sym typeface="Times New Roman Bold"/>
              </a:rPr>
              <a:t>fulltime_h.head()</a:t>
            </a:r>
          </a:p>
          <a:p>
            <a:pPr algn="ctr">
              <a:lnSpc>
                <a:spcPts val="6724"/>
              </a:lnSpc>
              <a:spcBef>
                <a:spcPct val="0"/>
              </a:spcBef>
            </a:pPr>
            <a:r>
              <a:rPr lang="en-US" sz="4802" b="1">
                <a:solidFill>
                  <a:srgbClr val="D7FDFF"/>
                </a:solidFill>
                <a:latin typeface="Times New Roman Bold"/>
                <a:ea typeface="Times New Roman Bold"/>
                <a:cs typeface="Times New Roman Bold"/>
                <a:sym typeface="Times New Roman Bold"/>
              </a:rPr>
              <a:t>2 recent = ijm[ijm['Posted Date'] &gt; '2025-01-01']</a:t>
            </a:r>
          </a:p>
          <a:p>
            <a:pPr algn="ctr">
              <a:lnSpc>
                <a:spcPts val="6724"/>
              </a:lnSpc>
              <a:spcBef>
                <a:spcPct val="0"/>
              </a:spcBef>
            </a:pPr>
            <a:r>
              <a:rPr lang="en-US" sz="4802" b="1">
                <a:solidFill>
                  <a:srgbClr val="D7FDFF"/>
                </a:solidFill>
                <a:latin typeface="Times New Roman Bold"/>
                <a:ea typeface="Times New Roman Bold"/>
                <a:cs typeface="Times New Roman Bold"/>
                <a:sym typeface="Times New Roman Bold"/>
              </a:rPr>
              <a:t>recent.head()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09701" y="292023"/>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CLEANING</a:t>
            </a:r>
          </a:p>
        </p:txBody>
      </p:sp>
      <p:sp>
        <p:nvSpPr>
          <p:cNvPr id="4" name="Freeform 4">
            <a:extLst>
              <a:ext uri="{C183D7F6-B498-43B3-948B-1728B52AA6E4}">
                <adec:decorative xmlns:adec="http://schemas.microsoft.com/office/drawing/2017/decorative" val="1"/>
              </a:ext>
            </a:extLst>
          </p:cNvPr>
          <p:cNvSpPr/>
          <p:nvPr/>
        </p:nvSpPr>
        <p:spPr>
          <a:xfrm>
            <a:off x="0" y="7878965"/>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3125207" y="2096758"/>
            <a:ext cx="12790131" cy="5874409"/>
          </a:xfrm>
          <a:prstGeom prst="rect">
            <a:avLst/>
          </a:prstGeom>
        </p:spPr>
        <p:txBody>
          <a:bodyPr lIns="0" tIns="0" rIns="0" bIns="0" rtlCol="0" anchor="t">
            <a:spAutoFit/>
          </a:bodyPr>
          <a:lstStyle/>
          <a:p>
            <a:pPr algn="ctr">
              <a:lnSpc>
                <a:spcPts val="7605"/>
              </a:lnSpc>
              <a:spcBef>
                <a:spcPct val="0"/>
              </a:spcBef>
            </a:pPr>
            <a:r>
              <a:rPr lang="en-US" sz="5432" b="1">
                <a:solidFill>
                  <a:srgbClr val="D7FDFF"/>
                </a:solidFill>
                <a:latin typeface="Times New Roman Bold"/>
                <a:ea typeface="Times New Roman Bold"/>
                <a:cs typeface="Times New Roman Bold"/>
                <a:sym typeface="Times New Roman Bold"/>
              </a:rPr>
              <a:t>1 ijm.drop_duplicates(inplace=True) </a:t>
            </a:r>
          </a:p>
          <a:p>
            <a:pPr algn="ctr">
              <a:lnSpc>
                <a:spcPts val="7605"/>
              </a:lnSpc>
              <a:spcBef>
                <a:spcPct val="0"/>
              </a:spcBef>
            </a:pPr>
            <a:r>
              <a:rPr lang="en-US" sz="5432" b="1">
                <a:solidFill>
                  <a:srgbClr val="D7FDFF"/>
                </a:solidFill>
                <a:latin typeface="Times New Roman Bold"/>
                <a:ea typeface="Times New Roman Bold"/>
                <a:cs typeface="Times New Roman Bold"/>
                <a:sym typeface="Times New Roman Bold"/>
              </a:rPr>
              <a:t> uni_rows=ijm.shape[0] </a:t>
            </a:r>
          </a:p>
          <a:p>
            <a:pPr algn="ctr">
              <a:lnSpc>
                <a:spcPts val="7605"/>
              </a:lnSpc>
              <a:spcBef>
                <a:spcPct val="0"/>
              </a:spcBef>
            </a:pPr>
            <a:r>
              <a:rPr lang="en-US" sz="5432" b="1">
                <a:solidFill>
                  <a:srgbClr val="D7FDFF"/>
                </a:solidFill>
                <a:latin typeface="Times New Roman Bold"/>
                <a:ea typeface="Times New Roman Bold"/>
                <a:cs typeface="Times New Roman Bold"/>
                <a:sym typeface="Times New Roman Bold"/>
              </a:rPr>
              <a:t> uni_rows </a:t>
            </a:r>
          </a:p>
          <a:p>
            <a:pPr algn="ctr">
              <a:lnSpc>
                <a:spcPts val="7605"/>
              </a:lnSpc>
              <a:spcBef>
                <a:spcPct val="0"/>
              </a:spcBef>
            </a:pPr>
            <a:r>
              <a:rPr lang="en-US" sz="5432" b="1">
                <a:solidFill>
                  <a:srgbClr val="D7FDFF"/>
                </a:solidFill>
                <a:latin typeface="Times New Roman Bold"/>
                <a:ea typeface="Times New Roman Bold"/>
                <a:cs typeface="Times New Roman Bold"/>
                <a:sym typeface="Times New Roman Bold"/>
              </a:rPr>
              <a:t>2 ijm['Salary Range'] = ijm['Salary Range'].str.replace(' LPA', '')</a:t>
            </a:r>
          </a:p>
          <a:p>
            <a:pPr algn="ctr">
              <a:lnSpc>
                <a:spcPts val="7605"/>
              </a:lnSpc>
              <a:spcBef>
                <a:spcPct val="0"/>
              </a:spcBef>
            </a:pPr>
            <a:r>
              <a:rPr lang="en-US" sz="5432" b="1">
                <a:solidFill>
                  <a:srgbClr val="D7FDFF"/>
                </a:solidFill>
                <a:latin typeface="Times New Roman Bold"/>
                <a:ea typeface="Times New Roman Bold"/>
                <a:cs typeface="Times New Roman Bold"/>
                <a:sym typeface="Times New Roman Bold"/>
              </a:rPr>
              <a:t>ijm['Salary Range']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09701" y="292023"/>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GROUPING</a:t>
            </a:r>
          </a:p>
        </p:txBody>
      </p:sp>
      <p:sp>
        <p:nvSpPr>
          <p:cNvPr id="4" name="Freeform 4">
            <a:extLst>
              <a:ext uri="{C183D7F6-B498-43B3-948B-1728B52AA6E4}">
                <adec:decorative xmlns:adec="http://schemas.microsoft.com/office/drawing/2017/decorative" val="1"/>
              </a:ext>
            </a:extLst>
          </p:cNvPr>
          <p:cNvSpPr/>
          <p:nvPr/>
        </p:nvSpPr>
        <p:spPr>
          <a:xfrm>
            <a:off x="0" y="7878965"/>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526279" y="2588355"/>
            <a:ext cx="13235442" cy="4891214"/>
          </a:xfrm>
          <a:prstGeom prst="rect">
            <a:avLst/>
          </a:prstGeom>
        </p:spPr>
        <p:txBody>
          <a:bodyPr lIns="0" tIns="0" rIns="0" bIns="0" rtlCol="0" anchor="t">
            <a:spAutoFit/>
          </a:bodyPr>
          <a:lstStyle/>
          <a:p>
            <a:pPr algn="ctr">
              <a:lnSpc>
                <a:spcPts val="7605"/>
              </a:lnSpc>
            </a:pPr>
            <a:r>
              <a:rPr lang="en-US" sz="5432" b="1">
                <a:solidFill>
                  <a:srgbClr val="D7FDFF"/>
                </a:solidFill>
                <a:latin typeface="Times New Roman Bold"/>
                <a:ea typeface="Times New Roman Bold"/>
                <a:cs typeface="Times New Roman Bold"/>
                <a:sym typeface="Times New Roman Bold"/>
              </a:rPr>
              <a:t>1ijm.groupby('Job Type')['Number of Applicants'].mean() </a:t>
            </a:r>
          </a:p>
          <a:p>
            <a:pPr algn="ctr">
              <a:lnSpc>
                <a:spcPts val="7605"/>
              </a:lnSpc>
            </a:pPr>
            <a:r>
              <a:rPr lang="en-US" sz="5432" b="1">
                <a:solidFill>
                  <a:srgbClr val="D7FDFF"/>
                </a:solidFill>
                <a:latin typeface="Times New Roman Bold"/>
                <a:ea typeface="Times New Roman Bold"/>
                <a:cs typeface="Times New Roman Bold"/>
                <a:sym typeface="Times New Roman Bold"/>
              </a:rPr>
              <a:t>2ijm.groupby('Company Name').size().rename('Job Listing')</a:t>
            </a:r>
          </a:p>
          <a:p>
            <a:pPr algn="ctr">
              <a:lnSpc>
                <a:spcPts val="7605"/>
              </a:lnSpc>
              <a:spcBef>
                <a:spcPct val="0"/>
              </a:spcBef>
            </a:pPr>
            <a:endParaRPr lang="en-US" sz="5432" b="1">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349797"/>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8714623"/>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3711621" y="4727194"/>
            <a:ext cx="9920039" cy="4372813"/>
          </a:xfrm>
          <a:custGeom>
            <a:avLst/>
            <a:gdLst/>
            <a:ahLst/>
            <a:cxnLst/>
            <a:rect l="l" t="t" r="r" b="b"/>
            <a:pathLst>
              <a:path w="9920039" h="4372813">
                <a:moveTo>
                  <a:pt x="0" y="0"/>
                </a:moveTo>
                <a:lnTo>
                  <a:pt x="9920040" y="0"/>
                </a:lnTo>
                <a:lnTo>
                  <a:pt x="9920040" y="4372814"/>
                </a:lnTo>
                <a:lnTo>
                  <a:pt x="0" y="4372814"/>
                </a:lnTo>
                <a:lnTo>
                  <a:pt x="0" y="0"/>
                </a:lnTo>
                <a:close/>
              </a:path>
            </a:pathLst>
          </a:custGeom>
          <a:blipFill>
            <a:blip r:embed="rId6"/>
            <a:stretch>
              <a:fillRect/>
            </a:stretch>
          </a:blipFill>
        </p:spPr>
      </p:sp>
      <p:sp>
        <p:nvSpPr>
          <p:cNvPr id="9" name="TextBox 9"/>
          <p:cNvSpPr txBox="1"/>
          <p:nvPr/>
        </p:nvSpPr>
        <p:spPr>
          <a:xfrm>
            <a:off x="3790595" y="1411006"/>
            <a:ext cx="9841065" cy="3732494"/>
          </a:xfrm>
          <a:prstGeom prst="rect">
            <a:avLst/>
          </a:prstGeom>
        </p:spPr>
        <p:txBody>
          <a:bodyPr lIns="0" tIns="0" rIns="0" bIns="0" rtlCol="0" anchor="t">
            <a:spAutoFit/>
          </a:bodyPr>
          <a:lstStyle/>
          <a:p>
            <a:pPr algn="ctr">
              <a:lnSpc>
                <a:spcPts val="4873"/>
              </a:lnSpc>
            </a:pPr>
            <a:r>
              <a:rPr lang="en-US" sz="3480" b="1">
                <a:solidFill>
                  <a:srgbClr val="D7FDFF"/>
                </a:solidFill>
                <a:latin typeface="Times New Roman Bold"/>
                <a:ea typeface="Times New Roman Bold"/>
                <a:cs typeface="Times New Roman Bold"/>
                <a:sym typeface="Times New Roman Bold"/>
              </a:rPr>
              <a:t>1           plt.figure(figsize=(8,6),facecolor='beige')</a:t>
            </a:r>
          </a:p>
          <a:p>
            <a:pPr algn="ctr">
              <a:lnSpc>
                <a:spcPts val="4873"/>
              </a:lnSpc>
            </a:pPr>
            <a:r>
              <a:rPr lang="en-US" sz="3480" b="1">
                <a:solidFill>
                  <a:srgbClr val="D7FDFF"/>
                </a:solidFill>
                <a:latin typeface="Times New Roman Bold"/>
                <a:ea typeface="Times New Roman Bold"/>
                <a:cs typeface="Times New Roman Bold"/>
                <a:sym typeface="Times New Roman Bold"/>
              </a:rPr>
              <a:t> sns.countplot(x='Remote/Onsite', data=ijm,color='purple')</a:t>
            </a:r>
          </a:p>
          <a:p>
            <a:pPr algn="ctr">
              <a:lnSpc>
                <a:spcPts val="4873"/>
              </a:lnSpc>
            </a:pPr>
            <a:r>
              <a:rPr lang="en-US" sz="3480" b="1">
                <a:solidFill>
                  <a:srgbClr val="D7FDFF"/>
                </a:solidFill>
                <a:latin typeface="Times New Roman Bold"/>
                <a:ea typeface="Times New Roman Bold"/>
                <a:cs typeface="Times New Roman Bold"/>
                <a:sym typeface="Times New Roman Bold"/>
              </a:rPr>
              <a:t> plt.title('Remote vs Onsite Jobs')</a:t>
            </a:r>
          </a:p>
          <a:p>
            <a:pPr algn="ctr">
              <a:lnSpc>
                <a:spcPts val="4873"/>
              </a:lnSpc>
            </a:pPr>
            <a:r>
              <a:rPr lang="en-US" sz="3480" b="1">
                <a:solidFill>
                  <a:srgbClr val="D7FDFF"/>
                </a:solidFill>
                <a:latin typeface="Times New Roman Bold"/>
                <a:ea typeface="Times New Roman Bold"/>
                <a:cs typeface="Times New Roman Bold"/>
                <a:sym typeface="Times New Roman Bold"/>
              </a:rPr>
              <a:t> plt.show()</a:t>
            </a:r>
          </a:p>
          <a:p>
            <a:pPr algn="ctr">
              <a:lnSpc>
                <a:spcPts val="4873"/>
              </a:lnSpc>
              <a:spcBef>
                <a:spcPct val="0"/>
              </a:spcBef>
            </a:pPr>
            <a:endParaRPr lang="en-US" sz="3480" b="1">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349797"/>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05261" y="5143500"/>
            <a:ext cx="5972609" cy="4346558"/>
          </a:xfrm>
          <a:custGeom>
            <a:avLst/>
            <a:gdLst/>
            <a:ahLst/>
            <a:cxnLst/>
            <a:rect l="l" t="t" r="r" b="b"/>
            <a:pathLst>
              <a:path w="5972609" h="4346558">
                <a:moveTo>
                  <a:pt x="0" y="0"/>
                </a:moveTo>
                <a:lnTo>
                  <a:pt x="5972609" y="0"/>
                </a:lnTo>
                <a:lnTo>
                  <a:pt x="5972609" y="4346558"/>
                </a:lnTo>
                <a:lnTo>
                  <a:pt x="0" y="4346558"/>
                </a:lnTo>
                <a:lnTo>
                  <a:pt x="0" y="0"/>
                </a:lnTo>
                <a:close/>
              </a:path>
            </a:pathLst>
          </a:custGeom>
          <a:blipFill>
            <a:blip r:embed="rId6"/>
            <a:stretch>
              <a:fillRect/>
            </a:stretch>
          </a:blipFill>
        </p:spPr>
      </p:sp>
      <p:sp>
        <p:nvSpPr>
          <p:cNvPr id="9" name="TextBox 9"/>
          <p:cNvSpPr txBox="1"/>
          <p:nvPr/>
        </p:nvSpPr>
        <p:spPr>
          <a:xfrm>
            <a:off x="2506742" y="1361006"/>
            <a:ext cx="13679590" cy="4408449"/>
          </a:xfrm>
          <a:prstGeom prst="rect">
            <a:avLst/>
          </a:prstGeom>
        </p:spPr>
        <p:txBody>
          <a:bodyPr lIns="0" tIns="0" rIns="0" bIns="0" rtlCol="0" anchor="t">
            <a:spAutoFit/>
          </a:bodyPr>
          <a:lstStyle/>
          <a:p>
            <a:pPr algn="ctr">
              <a:lnSpc>
                <a:spcPts val="3854"/>
              </a:lnSpc>
            </a:pPr>
            <a:r>
              <a:rPr lang="en-US" sz="2753" b="1">
                <a:solidFill>
                  <a:srgbClr val="D7FDFF"/>
                </a:solidFill>
                <a:latin typeface="Times New Roman Bold"/>
                <a:ea typeface="Times New Roman Bold"/>
                <a:cs typeface="Times New Roman Bold"/>
                <a:sym typeface="Times New Roman Bold"/>
              </a:rPr>
              <a:t>2.plt.figure(figsize=(6,6),facecolor='lightblue')</a:t>
            </a:r>
          </a:p>
          <a:p>
            <a:pPr algn="ctr">
              <a:lnSpc>
                <a:spcPts val="3854"/>
              </a:lnSpc>
            </a:pPr>
            <a:r>
              <a:rPr lang="en-US" sz="2753" b="1">
                <a:solidFill>
                  <a:srgbClr val="D7FDFF"/>
                </a:solidFill>
                <a:latin typeface="Times New Roman Bold"/>
                <a:ea typeface="Times New Roman Bold"/>
                <a:cs typeface="Times New Roman Bold"/>
                <a:sym typeface="Times New Roman Bold"/>
              </a:rPr>
              <a:t> colors = sns.color_palette('Set3')</a:t>
            </a:r>
          </a:p>
          <a:p>
            <a:pPr algn="ctr">
              <a:lnSpc>
                <a:spcPts val="3854"/>
              </a:lnSpc>
            </a:pPr>
            <a:r>
              <a:rPr lang="en-US" sz="2753" b="1">
                <a:solidFill>
                  <a:srgbClr val="D7FDFF"/>
                </a:solidFill>
                <a:latin typeface="Times New Roman Bold"/>
                <a:ea typeface="Times New Roman Bold"/>
                <a:cs typeface="Times New Roman Bold"/>
                <a:sym typeface="Times New Roman Bold"/>
              </a:rPr>
              <a:t>ijm['Job Type'].value_counts().plot.pie(autopct='%1.1f%%',shadow=True,explode=(0.05,0.05,0.05,0.05), startangle=140, colors={'purple','violet','red','green'},wedgeprops={'edgecolor': 'black', 'linewidth': 1})</a:t>
            </a:r>
          </a:p>
          <a:p>
            <a:pPr algn="ctr">
              <a:lnSpc>
                <a:spcPts val="3854"/>
              </a:lnSpc>
            </a:pPr>
            <a:r>
              <a:rPr lang="en-US" sz="2753" b="1">
                <a:solidFill>
                  <a:srgbClr val="D7FDFF"/>
                </a:solidFill>
                <a:latin typeface="Times New Roman Bold"/>
                <a:ea typeface="Times New Roman Bold"/>
                <a:cs typeface="Times New Roman Bold"/>
                <a:sym typeface="Times New Roman Bold"/>
              </a:rPr>
              <a:t> plt.title('Type of Job Distribution')</a:t>
            </a:r>
          </a:p>
          <a:p>
            <a:pPr algn="ctr">
              <a:lnSpc>
                <a:spcPts val="3854"/>
              </a:lnSpc>
            </a:pPr>
            <a:r>
              <a:rPr lang="en-US" sz="2753" b="1">
                <a:solidFill>
                  <a:srgbClr val="D7FDFF"/>
                </a:solidFill>
                <a:latin typeface="Times New Roman Bold"/>
                <a:ea typeface="Times New Roman Bold"/>
                <a:cs typeface="Times New Roman Bold"/>
                <a:sym typeface="Times New Roman Bold"/>
              </a:rPr>
              <a:t> plt.ylabel('') # Removes extra ylabel</a:t>
            </a:r>
          </a:p>
          <a:p>
            <a:pPr algn="ctr">
              <a:lnSpc>
                <a:spcPts val="3854"/>
              </a:lnSpc>
            </a:pPr>
            <a:r>
              <a:rPr lang="en-US" sz="2753" b="1">
                <a:solidFill>
                  <a:srgbClr val="D7FDFF"/>
                </a:solidFill>
                <a:latin typeface="Times New Roman Bold"/>
                <a:ea typeface="Times New Roman Bold"/>
                <a:cs typeface="Times New Roman Bold"/>
                <a:sym typeface="Times New Roman Bold"/>
              </a:rPr>
              <a:t> plt.show()</a:t>
            </a:r>
          </a:p>
          <a:p>
            <a:pPr algn="ctr">
              <a:lnSpc>
                <a:spcPts val="3854"/>
              </a:lnSpc>
              <a:spcBef>
                <a:spcPct val="0"/>
              </a:spcBef>
            </a:pPr>
            <a:endParaRPr lang="en-US" sz="2753" b="1">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349797"/>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028700" y="5328520"/>
            <a:ext cx="7310168" cy="3771488"/>
          </a:xfrm>
          <a:custGeom>
            <a:avLst/>
            <a:gdLst/>
            <a:ahLst/>
            <a:cxnLst/>
            <a:rect l="l" t="t" r="r" b="b"/>
            <a:pathLst>
              <a:path w="7310168" h="3771488">
                <a:moveTo>
                  <a:pt x="0" y="0"/>
                </a:moveTo>
                <a:lnTo>
                  <a:pt x="7310168" y="0"/>
                </a:lnTo>
                <a:lnTo>
                  <a:pt x="7310168" y="3771488"/>
                </a:lnTo>
                <a:lnTo>
                  <a:pt x="0" y="3771488"/>
                </a:lnTo>
                <a:lnTo>
                  <a:pt x="0" y="0"/>
                </a:lnTo>
                <a:close/>
              </a:path>
            </a:pathLst>
          </a:custGeom>
          <a:blipFill>
            <a:blip r:embed="rId6"/>
            <a:stretch>
              <a:fillRect/>
            </a:stretch>
          </a:blipFill>
        </p:spPr>
      </p:sp>
      <p:sp>
        <p:nvSpPr>
          <p:cNvPr id="9" name="TextBox 9"/>
          <p:cNvSpPr txBox="1"/>
          <p:nvPr/>
        </p:nvSpPr>
        <p:spPr>
          <a:xfrm>
            <a:off x="2506742" y="1194540"/>
            <a:ext cx="14300319" cy="5171115"/>
          </a:xfrm>
          <a:prstGeom prst="rect">
            <a:avLst/>
          </a:prstGeom>
        </p:spPr>
        <p:txBody>
          <a:bodyPr lIns="0" tIns="0" rIns="0" bIns="0" rtlCol="0" anchor="t">
            <a:spAutoFit/>
          </a:bodyPr>
          <a:lstStyle/>
          <a:p>
            <a:pPr algn="ctr">
              <a:lnSpc>
                <a:spcPts val="3727"/>
              </a:lnSpc>
            </a:pPr>
            <a:r>
              <a:rPr lang="en-US" sz="2662" b="1">
                <a:solidFill>
                  <a:srgbClr val="D7FDFF"/>
                </a:solidFill>
                <a:latin typeface="Times New Roman Bold"/>
                <a:ea typeface="Times New Roman Bold"/>
                <a:cs typeface="Times New Roman Bold"/>
                <a:sym typeface="Times New Roman Bold"/>
              </a:rPr>
              <a:t>3.ijm['Posted Date'] = pd.to_datetime(ijm['Posted Date'], dayfirst=True)</a:t>
            </a:r>
          </a:p>
          <a:p>
            <a:pPr algn="ctr">
              <a:lnSpc>
                <a:spcPts val="3727"/>
              </a:lnSpc>
            </a:pPr>
            <a:r>
              <a:rPr lang="en-US" sz="2662" b="1">
                <a:solidFill>
                  <a:srgbClr val="D7FDFF"/>
                </a:solidFill>
                <a:latin typeface="Times New Roman Bold"/>
                <a:ea typeface="Times New Roman Bold"/>
                <a:cs typeface="Times New Roman Bold"/>
                <a:sym typeface="Times New Roman Bold"/>
              </a:rPr>
              <a:t> jobs_over_time = ijm.groupby('Posted Date').size()</a:t>
            </a:r>
          </a:p>
          <a:p>
            <a:pPr algn="ctr">
              <a:lnSpc>
                <a:spcPts val="3727"/>
              </a:lnSpc>
            </a:pPr>
            <a:r>
              <a:rPr lang="en-US" sz="2662" b="1">
                <a:solidFill>
                  <a:srgbClr val="D7FDFF"/>
                </a:solidFill>
                <a:latin typeface="Times New Roman Bold"/>
                <a:ea typeface="Times New Roman Bold"/>
                <a:cs typeface="Times New Roman Bold"/>
                <a:sym typeface="Times New Roman Bold"/>
              </a:rPr>
              <a:t> plt.figure(figsize=(10,6),facecolor='lightpink')</a:t>
            </a:r>
          </a:p>
          <a:p>
            <a:pPr algn="ctr">
              <a:lnSpc>
                <a:spcPts val="3727"/>
              </a:lnSpc>
            </a:pPr>
            <a:r>
              <a:rPr lang="en-US" sz="2662" b="1">
                <a:solidFill>
                  <a:srgbClr val="D7FDFF"/>
                </a:solidFill>
                <a:latin typeface="Times New Roman Bold"/>
                <a:ea typeface="Times New Roman Bold"/>
                <a:cs typeface="Times New Roman Bold"/>
                <a:sym typeface="Times New Roman Bold"/>
              </a:rPr>
              <a:t> plt.plot(jobs_over_time.index, jobs_over_time.values, marker='d', color='purple')</a:t>
            </a:r>
          </a:p>
          <a:p>
            <a:pPr algn="ctr">
              <a:lnSpc>
                <a:spcPts val="3727"/>
              </a:lnSpc>
            </a:pPr>
            <a:r>
              <a:rPr lang="en-US" sz="2662" b="1">
                <a:solidFill>
                  <a:srgbClr val="D7FDFF"/>
                </a:solidFill>
                <a:latin typeface="Times New Roman Bold"/>
                <a:ea typeface="Times New Roman Bold"/>
                <a:cs typeface="Times New Roman Bold"/>
                <a:sym typeface="Times New Roman Bold"/>
              </a:rPr>
              <a:t> plt.title('Job Postings Over Time')</a:t>
            </a:r>
          </a:p>
          <a:p>
            <a:pPr algn="ctr">
              <a:lnSpc>
                <a:spcPts val="3727"/>
              </a:lnSpc>
            </a:pPr>
            <a:r>
              <a:rPr lang="en-US" sz="2662" b="1">
                <a:solidFill>
                  <a:srgbClr val="D7FDFF"/>
                </a:solidFill>
                <a:latin typeface="Times New Roman Bold"/>
                <a:ea typeface="Times New Roman Bold"/>
                <a:cs typeface="Times New Roman Bold"/>
                <a:sym typeface="Times New Roman Bold"/>
              </a:rPr>
              <a:t> plt.xlabel('Date')</a:t>
            </a:r>
          </a:p>
          <a:p>
            <a:pPr algn="ctr">
              <a:lnSpc>
                <a:spcPts val="3727"/>
              </a:lnSpc>
            </a:pPr>
            <a:r>
              <a:rPr lang="en-US" sz="2662" b="1">
                <a:solidFill>
                  <a:srgbClr val="D7FDFF"/>
                </a:solidFill>
                <a:latin typeface="Times New Roman Bold"/>
                <a:ea typeface="Times New Roman Bold"/>
                <a:cs typeface="Times New Roman Bold"/>
                <a:sym typeface="Times New Roman Bold"/>
              </a:rPr>
              <a:t> plt.ylabel('Number of Job Postings')</a:t>
            </a:r>
          </a:p>
          <a:p>
            <a:pPr algn="ctr">
              <a:lnSpc>
                <a:spcPts val="3727"/>
              </a:lnSpc>
            </a:pPr>
            <a:r>
              <a:rPr lang="en-US" sz="2662" b="1">
                <a:solidFill>
                  <a:srgbClr val="D7FDFF"/>
                </a:solidFill>
                <a:latin typeface="Times New Roman Bold"/>
                <a:ea typeface="Times New Roman Bold"/>
                <a:cs typeface="Times New Roman Bold"/>
                <a:sym typeface="Times New Roman Bold"/>
              </a:rPr>
              <a:t> plt.grid(True)</a:t>
            </a:r>
          </a:p>
          <a:p>
            <a:pPr algn="ctr">
              <a:lnSpc>
                <a:spcPts val="3727"/>
              </a:lnSpc>
            </a:pPr>
            <a:r>
              <a:rPr lang="en-US" sz="2662" b="1">
                <a:solidFill>
                  <a:srgbClr val="D7FDFF"/>
                </a:solidFill>
                <a:latin typeface="Times New Roman Bold"/>
                <a:ea typeface="Times New Roman Bold"/>
                <a:cs typeface="Times New Roman Bold"/>
                <a:sym typeface="Times New Roman Bold"/>
              </a:rPr>
              <a:t> plt.show()</a:t>
            </a:r>
          </a:p>
          <a:p>
            <a:pPr algn="ctr">
              <a:lnSpc>
                <a:spcPts val="3727"/>
              </a:lnSpc>
            </a:pPr>
            <a:endParaRPr lang="en-US" sz="2662" b="1">
              <a:solidFill>
                <a:srgbClr val="D7FDFF"/>
              </a:solidFill>
              <a:latin typeface="Times New Roman Bold"/>
              <a:ea typeface="Times New Roman Bold"/>
              <a:cs typeface="Times New Roman Bold"/>
              <a:sym typeface="Times New Roman Bold"/>
            </a:endParaRPr>
          </a:p>
          <a:p>
            <a:pPr algn="ctr">
              <a:lnSpc>
                <a:spcPts val="3727"/>
              </a:lnSpc>
              <a:spcBef>
                <a:spcPct val="0"/>
              </a:spcBef>
            </a:pPr>
            <a:endParaRPr lang="en-US" sz="2662" b="1">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349797"/>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4551914" y="1282473"/>
            <a:ext cx="13293548" cy="5672643"/>
          </a:xfrm>
          <a:prstGeom prst="rect">
            <a:avLst/>
          </a:prstGeom>
        </p:spPr>
        <p:txBody>
          <a:bodyPr lIns="0" tIns="0" rIns="0" bIns="0" rtlCol="0" anchor="t">
            <a:spAutoFit/>
          </a:bodyPr>
          <a:lstStyle/>
          <a:p>
            <a:pPr algn="ctr">
              <a:lnSpc>
                <a:spcPts val="3465"/>
              </a:lnSpc>
            </a:pPr>
            <a:r>
              <a:rPr lang="en-US" sz="2475" b="1">
                <a:solidFill>
                  <a:srgbClr val="D7FDFF"/>
                </a:solidFill>
                <a:latin typeface="Times New Roman Bold"/>
                <a:ea typeface="Times New Roman Bold"/>
                <a:cs typeface="Times New Roman Bold"/>
                <a:sym typeface="Times New Roman Bold"/>
              </a:rPr>
              <a:t>4.plt.figure(figsize=(12,6),facecolor='pink')</a:t>
            </a:r>
          </a:p>
          <a:p>
            <a:pPr algn="ctr">
              <a:lnSpc>
                <a:spcPts val="3465"/>
              </a:lnSpc>
            </a:pPr>
            <a:r>
              <a:rPr lang="en-US" sz="2475" b="1">
                <a:solidFill>
                  <a:srgbClr val="D7FDFF"/>
                </a:solidFill>
                <a:latin typeface="Times New Roman Bold"/>
                <a:ea typeface="Times New Roman Bold"/>
                <a:cs typeface="Times New Roman Bold"/>
                <a:sym typeface="Times New Roman Bold"/>
              </a:rPr>
              <a:t> for company in grouped['Company Name'].unique():</a:t>
            </a:r>
          </a:p>
          <a:p>
            <a:pPr algn="ctr">
              <a:lnSpc>
                <a:spcPts val="3465"/>
              </a:lnSpc>
            </a:pPr>
            <a:r>
              <a:rPr lang="en-US" sz="2475" b="1">
                <a:solidFill>
                  <a:srgbClr val="D7FDFF"/>
                </a:solidFill>
                <a:latin typeface="Times New Roman Bold"/>
                <a:ea typeface="Times New Roman Bold"/>
                <a:cs typeface="Times New Roman Bold"/>
                <a:sym typeface="Times New Roman Bold"/>
              </a:rPr>
              <a:t>             company_data = grouped[grouped['Company Name'] == company]</a:t>
            </a:r>
          </a:p>
          <a:p>
            <a:pPr algn="ctr">
              <a:lnSpc>
                <a:spcPts val="3465"/>
              </a:lnSpc>
            </a:pPr>
            <a:r>
              <a:rPr lang="en-US" sz="2475" b="1">
                <a:solidFill>
                  <a:srgbClr val="D7FDFF"/>
                </a:solidFill>
                <a:latin typeface="Times New Roman Bold"/>
                <a:ea typeface="Times New Roman Bold"/>
                <a:cs typeface="Times New Roman Bold"/>
                <a:sym typeface="Times New Roman Bold"/>
              </a:rPr>
              <a:t>plt.plot(company_data['Job Title'], company_data['Average Salary (LPA)'], marker='o', label=company)</a:t>
            </a:r>
          </a:p>
          <a:p>
            <a:pPr algn="ctr">
              <a:lnSpc>
                <a:spcPts val="3465"/>
              </a:lnSpc>
            </a:pPr>
            <a:r>
              <a:rPr lang="en-US" sz="2475" b="1">
                <a:solidFill>
                  <a:srgbClr val="D7FDFF"/>
                </a:solidFill>
                <a:latin typeface="Times New Roman Bold"/>
                <a:ea typeface="Times New Roman Bold"/>
                <a:cs typeface="Times New Roman Bold"/>
                <a:sym typeface="Times New Roman Bold"/>
              </a:rPr>
              <a:t>plt.title('Average Salary (LPA) by Job Title for Top 5 Companies')</a:t>
            </a:r>
          </a:p>
          <a:p>
            <a:pPr algn="ctr">
              <a:lnSpc>
                <a:spcPts val="3465"/>
              </a:lnSpc>
            </a:pPr>
            <a:r>
              <a:rPr lang="en-US" sz="2475" b="1">
                <a:solidFill>
                  <a:srgbClr val="D7FDFF"/>
                </a:solidFill>
                <a:latin typeface="Times New Roman Bold"/>
                <a:ea typeface="Times New Roman Bold"/>
                <a:cs typeface="Times New Roman Bold"/>
                <a:sym typeface="Times New Roman Bold"/>
              </a:rPr>
              <a:t> plt.xlabel('Job Title')</a:t>
            </a:r>
          </a:p>
          <a:p>
            <a:pPr algn="ctr">
              <a:lnSpc>
                <a:spcPts val="3465"/>
              </a:lnSpc>
            </a:pPr>
            <a:r>
              <a:rPr lang="en-US" sz="2475" b="1">
                <a:solidFill>
                  <a:srgbClr val="D7FDFF"/>
                </a:solidFill>
                <a:latin typeface="Times New Roman Bold"/>
                <a:ea typeface="Times New Roman Bold"/>
                <a:cs typeface="Times New Roman Bold"/>
                <a:sym typeface="Times New Roman Bold"/>
              </a:rPr>
              <a:t> plt.ylabel('Average Salary (LPA)')</a:t>
            </a:r>
          </a:p>
          <a:p>
            <a:pPr algn="ctr">
              <a:lnSpc>
                <a:spcPts val="3465"/>
              </a:lnSpc>
            </a:pPr>
            <a:r>
              <a:rPr lang="en-US" sz="2475" b="1">
                <a:solidFill>
                  <a:srgbClr val="D7FDFF"/>
                </a:solidFill>
                <a:latin typeface="Times New Roman Bold"/>
                <a:ea typeface="Times New Roman Bold"/>
                <a:cs typeface="Times New Roman Bold"/>
                <a:sym typeface="Times New Roman Bold"/>
              </a:rPr>
              <a:t> plt.xticks(rotation=45, ha='right')</a:t>
            </a:r>
          </a:p>
          <a:p>
            <a:pPr algn="ctr">
              <a:lnSpc>
                <a:spcPts val="3465"/>
              </a:lnSpc>
            </a:pPr>
            <a:r>
              <a:rPr lang="en-US" sz="2475" b="1">
                <a:solidFill>
                  <a:srgbClr val="D7FDFF"/>
                </a:solidFill>
                <a:latin typeface="Times New Roman Bold"/>
                <a:ea typeface="Times New Roman Bold"/>
                <a:cs typeface="Times New Roman Bold"/>
                <a:sym typeface="Times New Roman Bold"/>
              </a:rPr>
              <a:t> plt.legend(title='Company')</a:t>
            </a:r>
          </a:p>
          <a:p>
            <a:pPr algn="ctr">
              <a:lnSpc>
                <a:spcPts val="3465"/>
              </a:lnSpc>
            </a:pPr>
            <a:r>
              <a:rPr lang="en-US" sz="2475" b="1">
                <a:solidFill>
                  <a:srgbClr val="D7FDFF"/>
                </a:solidFill>
                <a:latin typeface="Times New Roman Bold"/>
                <a:ea typeface="Times New Roman Bold"/>
                <a:cs typeface="Times New Roman Bold"/>
                <a:sym typeface="Times New Roman Bold"/>
              </a:rPr>
              <a:t> plt.grid(True)</a:t>
            </a:r>
          </a:p>
          <a:p>
            <a:pPr algn="ctr">
              <a:lnSpc>
                <a:spcPts val="3465"/>
              </a:lnSpc>
            </a:pPr>
            <a:r>
              <a:rPr lang="en-US" sz="2475" b="1">
                <a:solidFill>
                  <a:srgbClr val="D7FDFF"/>
                </a:solidFill>
                <a:latin typeface="Times New Roman Bold"/>
                <a:ea typeface="Times New Roman Bold"/>
                <a:cs typeface="Times New Roman Bold"/>
                <a:sym typeface="Times New Roman Bold"/>
              </a:rPr>
              <a:t> plt.show()</a:t>
            </a:r>
          </a:p>
          <a:p>
            <a:pPr algn="ctr">
              <a:lnSpc>
                <a:spcPts val="3465"/>
              </a:lnSpc>
              <a:spcBef>
                <a:spcPct val="0"/>
              </a:spcBef>
            </a:pPr>
            <a:endParaRPr lang="en-US" sz="2475" b="1">
              <a:solidFill>
                <a:srgbClr val="D7FDFF"/>
              </a:solidFill>
              <a:latin typeface="Times New Roman Bold"/>
              <a:ea typeface="Times New Roman Bold"/>
              <a:cs typeface="Times New Roman Bold"/>
              <a:sym typeface="Times New Roman Bold"/>
            </a:endParaRPr>
          </a:p>
        </p:txBody>
      </p:sp>
      <p:sp>
        <p:nvSpPr>
          <p:cNvPr id="9" name="Freeform 9"/>
          <p:cNvSpPr/>
          <p:nvPr/>
        </p:nvSpPr>
        <p:spPr>
          <a:xfrm>
            <a:off x="869713" y="4809652"/>
            <a:ext cx="7364400" cy="4722422"/>
          </a:xfrm>
          <a:custGeom>
            <a:avLst/>
            <a:gdLst/>
            <a:ahLst/>
            <a:cxnLst/>
            <a:rect l="l" t="t" r="r" b="b"/>
            <a:pathLst>
              <a:path w="7364400" h="4722422">
                <a:moveTo>
                  <a:pt x="0" y="0"/>
                </a:moveTo>
                <a:lnTo>
                  <a:pt x="7364401" y="0"/>
                </a:lnTo>
                <a:lnTo>
                  <a:pt x="7364401" y="4722422"/>
                </a:lnTo>
                <a:lnTo>
                  <a:pt x="0" y="4722422"/>
                </a:lnTo>
                <a:lnTo>
                  <a:pt x="0" y="0"/>
                </a:lnTo>
                <a:close/>
              </a:path>
            </a:pathLst>
          </a:custGeom>
          <a:blipFill>
            <a:blip r:embed="rId6"/>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349797"/>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4551914" y="1282473"/>
            <a:ext cx="13293548" cy="4371043"/>
          </a:xfrm>
          <a:prstGeom prst="rect">
            <a:avLst/>
          </a:prstGeom>
        </p:spPr>
        <p:txBody>
          <a:bodyPr lIns="0" tIns="0" rIns="0" bIns="0" rtlCol="0" anchor="t">
            <a:spAutoFit/>
          </a:bodyPr>
          <a:lstStyle/>
          <a:p>
            <a:pPr algn="ctr">
              <a:lnSpc>
                <a:spcPts val="3465"/>
              </a:lnSpc>
            </a:pPr>
            <a:r>
              <a:rPr lang="en-US" sz="2475" b="1">
                <a:solidFill>
                  <a:srgbClr val="D7FDFF"/>
                </a:solidFill>
                <a:latin typeface="Times New Roman Bold"/>
                <a:ea typeface="Times New Roman Bold"/>
                <a:cs typeface="Times New Roman Bold"/>
                <a:sym typeface="Times New Roman Bold"/>
              </a:rPr>
              <a:t>5.top_companies = ijm['Company Name'].value_counts().nlargest(5).index</a:t>
            </a:r>
          </a:p>
          <a:p>
            <a:pPr algn="ctr">
              <a:lnSpc>
                <a:spcPts val="3465"/>
              </a:lnSpc>
            </a:pPr>
            <a:r>
              <a:rPr lang="en-US" sz="2475" b="1">
                <a:solidFill>
                  <a:srgbClr val="D7FDFF"/>
                </a:solidFill>
                <a:latin typeface="Times New Roman Bold"/>
                <a:ea typeface="Times New Roman Bold"/>
                <a:cs typeface="Times New Roman Bold"/>
                <a:sym typeface="Times New Roman Bold"/>
              </a:rPr>
              <a:t>filtered_df = ijm[ijm['Company Name'].isin(top_companies)]</a:t>
            </a:r>
          </a:p>
          <a:p>
            <a:pPr algn="ctr">
              <a:lnSpc>
                <a:spcPts val="3465"/>
              </a:lnSpc>
            </a:pPr>
            <a:endParaRPr lang="en-US" sz="2475" b="1">
              <a:solidFill>
                <a:srgbClr val="D7FDFF"/>
              </a:solidFill>
              <a:latin typeface="Times New Roman Bold"/>
              <a:ea typeface="Times New Roman Bold"/>
              <a:cs typeface="Times New Roman Bold"/>
              <a:sym typeface="Times New Roman Bold"/>
            </a:endParaRPr>
          </a:p>
          <a:p>
            <a:pPr algn="ctr">
              <a:lnSpc>
                <a:spcPts val="3465"/>
              </a:lnSpc>
            </a:pPr>
            <a:r>
              <a:rPr lang="en-US" sz="2475" b="1">
                <a:solidFill>
                  <a:srgbClr val="D7FDFF"/>
                </a:solidFill>
                <a:latin typeface="Times New Roman Bold"/>
                <a:ea typeface="Times New Roman Bold"/>
                <a:cs typeface="Times New Roman Bold"/>
                <a:sym typeface="Times New Roman Bold"/>
              </a:rPr>
              <a:t>plt.figure(figsize=(12,6),facecolor='lightgrey')</a:t>
            </a:r>
          </a:p>
          <a:p>
            <a:pPr algn="ctr">
              <a:lnSpc>
                <a:spcPts val="3465"/>
              </a:lnSpc>
            </a:pPr>
            <a:r>
              <a:rPr lang="en-US" sz="2475" b="1">
                <a:solidFill>
                  <a:srgbClr val="D7FDFF"/>
                </a:solidFill>
                <a:latin typeface="Times New Roman Bold"/>
                <a:ea typeface="Times New Roman Bold"/>
                <a:cs typeface="Times New Roman Bold"/>
                <a:sym typeface="Times New Roman Bold"/>
              </a:rPr>
              <a:t>sns.countplot(y='Company Name', hue='Salary Range', data=filtered_df, palette='coolwarm')</a:t>
            </a:r>
          </a:p>
          <a:p>
            <a:pPr algn="ctr">
              <a:lnSpc>
                <a:spcPts val="3465"/>
              </a:lnSpc>
            </a:pPr>
            <a:r>
              <a:rPr lang="en-US" sz="2475" b="1">
                <a:solidFill>
                  <a:srgbClr val="D7FDFF"/>
                </a:solidFill>
                <a:latin typeface="Times New Roman Bold"/>
                <a:ea typeface="Times New Roman Bold"/>
                <a:cs typeface="Times New Roman Bold"/>
                <a:sym typeface="Times New Roman Bold"/>
              </a:rPr>
              <a:t>plt.title('Salary Range Distribution for Top 5 Companies')</a:t>
            </a:r>
          </a:p>
          <a:p>
            <a:pPr algn="ctr">
              <a:lnSpc>
                <a:spcPts val="3465"/>
              </a:lnSpc>
            </a:pPr>
            <a:r>
              <a:rPr lang="en-US" sz="2475" b="1">
                <a:solidFill>
                  <a:srgbClr val="D7FDFF"/>
                </a:solidFill>
                <a:latin typeface="Times New Roman Bold"/>
                <a:ea typeface="Times New Roman Bold"/>
                <a:cs typeface="Times New Roman Bold"/>
                <a:sym typeface="Times New Roman Bold"/>
              </a:rPr>
              <a:t>plt.xlabel('Number of Job Listings')</a:t>
            </a:r>
          </a:p>
          <a:p>
            <a:pPr algn="ctr">
              <a:lnSpc>
                <a:spcPts val="3465"/>
              </a:lnSpc>
            </a:pPr>
            <a:r>
              <a:rPr lang="en-US" sz="2475" b="1">
                <a:solidFill>
                  <a:srgbClr val="D7FDFF"/>
                </a:solidFill>
                <a:latin typeface="Times New Roman Bold"/>
                <a:ea typeface="Times New Roman Bold"/>
                <a:cs typeface="Times New Roman Bold"/>
                <a:sym typeface="Times New Roman Bold"/>
              </a:rPr>
              <a:t>plt.ylabel('Company Name')</a:t>
            </a:r>
          </a:p>
          <a:p>
            <a:pPr algn="ctr">
              <a:lnSpc>
                <a:spcPts val="3465"/>
              </a:lnSpc>
            </a:pPr>
            <a:r>
              <a:rPr lang="en-US" sz="2475" b="1">
                <a:solidFill>
                  <a:srgbClr val="D7FDFF"/>
                </a:solidFill>
                <a:latin typeface="Times New Roman Bold"/>
                <a:ea typeface="Times New Roman Bold"/>
                <a:cs typeface="Times New Roman Bold"/>
                <a:sym typeface="Times New Roman Bold"/>
              </a:rPr>
              <a:t>plt.legend(title='Salary Range', bbox_to_anchor=(1.05, 1), loc='upper left')</a:t>
            </a:r>
          </a:p>
          <a:p>
            <a:pPr algn="ctr">
              <a:lnSpc>
                <a:spcPts val="3465"/>
              </a:lnSpc>
              <a:spcBef>
                <a:spcPct val="0"/>
              </a:spcBef>
            </a:pPr>
            <a:r>
              <a:rPr lang="en-US" sz="2475" b="1">
                <a:solidFill>
                  <a:srgbClr val="D7FDFF"/>
                </a:solidFill>
                <a:latin typeface="Times New Roman Bold"/>
                <a:ea typeface="Times New Roman Bold"/>
                <a:cs typeface="Times New Roman Bold"/>
                <a:sym typeface="Times New Roman Bold"/>
              </a:rPr>
              <a:t>plt.show()</a:t>
            </a:r>
          </a:p>
        </p:txBody>
      </p:sp>
      <p:sp>
        <p:nvSpPr>
          <p:cNvPr id="9" name="Freeform 9"/>
          <p:cNvSpPr/>
          <p:nvPr/>
        </p:nvSpPr>
        <p:spPr>
          <a:xfrm>
            <a:off x="869713" y="4809652"/>
            <a:ext cx="7364400" cy="4722422"/>
          </a:xfrm>
          <a:custGeom>
            <a:avLst/>
            <a:gdLst/>
            <a:ahLst/>
            <a:cxnLst/>
            <a:rect l="l" t="t" r="r" b="b"/>
            <a:pathLst>
              <a:path w="7364400" h="4722422">
                <a:moveTo>
                  <a:pt x="0" y="0"/>
                </a:moveTo>
                <a:lnTo>
                  <a:pt x="7364401" y="0"/>
                </a:lnTo>
                <a:lnTo>
                  <a:pt x="7364401" y="4722422"/>
                </a:lnTo>
                <a:lnTo>
                  <a:pt x="0" y="4722422"/>
                </a:lnTo>
                <a:lnTo>
                  <a:pt x="0" y="0"/>
                </a:lnTo>
                <a:close/>
              </a:path>
            </a:pathLst>
          </a:custGeom>
          <a:blipFill>
            <a:blip r:embed="rId6"/>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974681" y="-285750"/>
            <a:ext cx="14750948" cy="1378497"/>
          </a:xfrm>
          <a:prstGeom prst="rect">
            <a:avLst/>
          </a:prstGeom>
        </p:spPr>
        <p:txBody>
          <a:bodyPr lIns="0" tIns="0" rIns="0" bIns="0" rtlCol="0" anchor="t">
            <a:spAutoFit/>
          </a:bodyPr>
          <a:lstStyle/>
          <a:p>
            <a:pPr algn="ctr">
              <a:lnSpc>
                <a:spcPts val="10119"/>
              </a:lnSpc>
              <a:spcBef>
                <a:spcPct val="0"/>
              </a:spcBef>
            </a:pPr>
            <a:r>
              <a:rPr lang="en-US" sz="7228" b="1">
                <a:solidFill>
                  <a:srgbClr val="D7FDFF"/>
                </a:solidFill>
                <a:latin typeface="Alegreya Sans SC Bold"/>
                <a:ea typeface="Alegreya Sans SC Bold"/>
                <a:cs typeface="Alegreya Sans SC Bold"/>
                <a:sym typeface="Alegreya Sans SC Bold"/>
              </a:rPr>
              <a:t>data vizulatization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335053" y="5399873"/>
            <a:ext cx="8433720" cy="3858427"/>
          </a:xfrm>
          <a:custGeom>
            <a:avLst/>
            <a:gdLst/>
            <a:ahLst/>
            <a:cxnLst/>
            <a:rect l="l" t="t" r="r" b="b"/>
            <a:pathLst>
              <a:path w="8433720" h="3858427">
                <a:moveTo>
                  <a:pt x="0" y="0"/>
                </a:moveTo>
                <a:lnTo>
                  <a:pt x="8433721" y="0"/>
                </a:lnTo>
                <a:lnTo>
                  <a:pt x="8433721" y="3858427"/>
                </a:lnTo>
                <a:lnTo>
                  <a:pt x="0" y="3858427"/>
                </a:lnTo>
                <a:lnTo>
                  <a:pt x="0" y="0"/>
                </a:lnTo>
                <a:close/>
              </a:path>
            </a:pathLst>
          </a:custGeom>
          <a:blipFill>
            <a:blip r:embed="rId6"/>
            <a:stretch>
              <a:fillRect/>
            </a:stretch>
          </a:blipFill>
        </p:spPr>
      </p:sp>
      <p:sp>
        <p:nvSpPr>
          <p:cNvPr id="9" name="TextBox 9"/>
          <p:cNvSpPr txBox="1"/>
          <p:nvPr/>
        </p:nvSpPr>
        <p:spPr>
          <a:xfrm>
            <a:off x="4551914" y="1282473"/>
            <a:ext cx="13293548" cy="4371043"/>
          </a:xfrm>
          <a:prstGeom prst="rect">
            <a:avLst/>
          </a:prstGeom>
        </p:spPr>
        <p:txBody>
          <a:bodyPr lIns="0" tIns="0" rIns="0" bIns="0" rtlCol="0" anchor="t">
            <a:spAutoFit/>
          </a:bodyPr>
          <a:lstStyle/>
          <a:p>
            <a:pPr algn="ctr">
              <a:lnSpc>
                <a:spcPts val="3465"/>
              </a:lnSpc>
            </a:pPr>
            <a:r>
              <a:rPr lang="en-US" sz="2475" b="1">
                <a:solidFill>
                  <a:srgbClr val="D7FDFF"/>
                </a:solidFill>
                <a:latin typeface="Times New Roman Bold"/>
                <a:ea typeface="Times New Roman Bold"/>
                <a:cs typeface="Times New Roman Bold"/>
                <a:sym typeface="Times New Roman Bold"/>
              </a:rPr>
              <a:t>5.top_companies = ijm['Company Name'].value_counts().nlargest(5).index</a:t>
            </a:r>
          </a:p>
          <a:p>
            <a:pPr algn="ctr">
              <a:lnSpc>
                <a:spcPts val="3465"/>
              </a:lnSpc>
            </a:pPr>
            <a:r>
              <a:rPr lang="en-US" sz="2475" b="1">
                <a:solidFill>
                  <a:srgbClr val="D7FDFF"/>
                </a:solidFill>
                <a:latin typeface="Times New Roman Bold"/>
                <a:ea typeface="Times New Roman Bold"/>
                <a:cs typeface="Times New Roman Bold"/>
                <a:sym typeface="Times New Roman Bold"/>
              </a:rPr>
              <a:t>filtered_df = ijm[ijm['Company Name'].isin(top_companies)]</a:t>
            </a:r>
          </a:p>
          <a:p>
            <a:pPr algn="ctr">
              <a:lnSpc>
                <a:spcPts val="3465"/>
              </a:lnSpc>
            </a:pPr>
            <a:endParaRPr lang="en-US" sz="2475" b="1">
              <a:solidFill>
                <a:srgbClr val="D7FDFF"/>
              </a:solidFill>
              <a:latin typeface="Times New Roman Bold"/>
              <a:ea typeface="Times New Roman Bold"/>
              <a:cs typeface="Times New Roman Bold"/>
              <a:sym typeface="Times New Roman Bold"/>
            </a:endParaRPr>
          </a:p>
          <a:p>
            <a:pPr algn="ctr">
              <a:lnSpc>
                <a:spcPts val="3465"/>
              </a:lnSpc>
            </a:pPr>
            <a:r>
              <a:rPr lang="en-US" sz="2475" b="1">
                <a:solidFill>
                  <a:srgbClr val="D7FDFF"/>
                </a:solidFill>
                <a:latin typeface="Times New Roman Bold"/>
                <a:ea typeface="Times New Roman Bold"/>
                <a:cs typeface="Times New Roman Bold"/>
                <a:sym typeface="Times New Roman Bold"/>
              </a:rPr>
              <a:t>plt.figure(figsize=(12,6),facecolor='lightgrey')</a:t>
            </a:r>
          </a:p>
          <a:p>
            <a:pPr algn="ctr">
              <a:lnSpc>
                <a:spcPts val="3465"/>
              </a:lnSpc>
            </a:pPr>
            <a:r>
              <a:rPr lang="en-US" sz="2475" b="1">
                <a:solidFill>
                  <a:srgbClr val="D7FDFF"/>
                </a:solidFill>
                <a:latin typeface="Times New Roman Bold"/>
                <a:ea typeface="Times New Roman Bold"/>
                <a:cs typeface="Times New Roman Bold"/>
                <a:sym typeface="Times New Roman Bold"/>
              </a:rPr>
              <a:t>sns.countplot(y='Company Name', hue='Salary Range', data=filtered_df, palette='coolwarm')</a:t>
            </a:r>
          </a:p>
          <a:p>
            <a:pPr algn="ctr">
              <a:lnSpc>
                <a:spcPts val="3465"/>
              </a:lnSpc>
            </a:pPr>
            <a:r>
              <a:rPr lang="en-US" sz="2475" b="1">
                <a:solidFill>
                  <a:srgbClr val="D7FDFF"/>
                </a:solidFill>
                <a:latin typeface="Times New Roman Bold"/>
                <a:ea typeface="Times New Roman Bold"/>
                <a:cs typeface="Times New Roman Bold"/>
                <a:sym typeface="Times New Roman Bold"/>
              </a:rPr>
              <a:t>plt.title('Salary Range Distribution for Top 5 Companies')</a:t>
            </a:r>
          </a:p>
          <a:p>
            <a:pPr algn="ctr">
              <a:lnSpc>
                <a:spcPts val="3465"/>
              </a:lnSpc>
            </a:pPr>
            <a:r>
              <a:rPr lang="en-US" sz="2475" b="1">
                <a:solidFill>
                  <a:srgbClr val="D7FDFF"/>
                </a:solidFill>
                <a:latin typeface="Times New Roman Bold"/>
                <a:ea typeface="Times New Roman Bold"/>
                <a:cs typeface="Times New Roman Bold"/>
                <a:sym typeface="Times New Roman Bold"/>
              </a:rPr>
              <a:t>plt.xlabel('Number of Job Listings')</a:t>
            </a:r>
          </a:p>
          <a:p>
            <a:pPr algn="ctr">
              <a:lnSpc>
                <a:spcPts val="3465"/>
              </a:lnSpc>
            </a:pPr>
            <a:r>
              <a:rPr lang="en-US" sz="2475" b="1">
                <a:solidFill>
                  <a:srgbClr val="D7FDFF"/>
                </a:solidFill>
                <a:latin typeface="Times New Roman Bold"/>
                <a:ea typeface="Times New Roman Bold"/>
                <a:cs typeface="Times New Roman Bold"/>
                <a:sym typeface="Times New Roman Bold"/>
              </a:rPr>
              <a:t>plt.ylabel('Company Name')</a:t>
            </a:r>
          </a:p>
          <a:p>
            <a:pPr algn="ctr">
              <a:lnSpc>
                <a:spcPts val="3465"/>
              </a:lnSpc>
            </a:pPr>
            <a:r>
              <a:rPr lang="en-US" sz="2475" b="1">
                <a:solidFill>
                  <a:srgbClr val="D7FDFF"/>
                </a:solidFill>
                <a:latin typeface="Times New Roman Bold"/>
                <a:ea typeface="Times New Roman Bold"/>
                <a:cs typeface="Times New Roman Bold"/>
                <a:sym typeface="Times New Roman Bold"/>
              </a:rPr>
              <a:t>plt.legend(title='Salary Range', bbox_to_anchor=(1.05, 1), loc='upper left')</a:t>
            </a:r>
          </a:p>
          <a:p>
            <a:pPr algn="ctr">
              <a:lnSpc>
                <a:spcPts val="3465"/>
              </a:lnSpc>
              <a:spcBef>
                <a:spcPct val="0"/>
              </a:spcBef>
            </a:pPr>
            <a:r>
              <a:rPr lang="en-US" sz="2475" b="1">
                <a:solidFill>
                  <a:srgbClr val="D7FDFF"/>
                </a:solidFill>
                <a:latin typeface="Times New Roman Bold"/>
                <a:ea typeface="Times New Roman Bold"/>
                <a:cs typeface="Times New Roman Bold"/>
                <a:sym typeface="Times New Roman Bold"/>
              </a:rPr>
              <a:t>plt.show()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604354"/>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06743" y="380490"/>
            <a:ext cx="14750948" cy="1378497"/>
          </a:xfrm>
          <a:prstGeom prst="rect">
            <a:avLst/>
          </a:prstGeom>
        </p:spPr>
        <p:txBody>
          <a:bodyPr lIns="0" tIns="0" rIns="0" bIns="0" rtlCol="0" anchor="t">
            <a:spAutoFit/>
          </a:bodyPr>
          <a:lstStyle/>
          <a:p>
            <a:pPr algn="ctr">
              <a:lnSpc>
                <a:spcPts val="10119"/>
              </a:lnSpc>
              <a:spcBef>
                <a:spcPct val="0"/>
              </a:spcBef>
            </a:pPr>
            <a:r>
              <a:rPr lang="en-US" sz="7228" b="1" dirty="0">
                <a:solidFill>
                  <a:srgbClr val="D7FDFF"/>
                </a:solidFill>
                <a:latin typeface="Alegreya Sans SC Bold"/>
                <a:ea typeface="Alegreya Sans SC Bold"/>
                <a:cs typeface="Alegreya Sans SC Bold"/>
                <a:sym typeface="Alegreya Sans SC Bold"/>
              </a:rPr>
              <a:t>USES OF DATA ANALYSIS LIBRARY</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869713" y="-994123"/>
            <a:ext cx="2567706" cy="3373451"/>
          </a:xfrm>
          <a:custGeom>
            <a:avLst/>
            <a:gdLst/>
            <a:ahLst/>
            <a:cxnLst/>
            <a:rect l="l" t="t" r="r" b="b"/>
            <a:pathLst>
              <a:path w="2567706" h="3373451">
                <a:moveTo>
                  <a:pt x="0" y="3373452"/>
                </a:moveTo>
                <a:lnTo>
                  <a:pt x="2567707" y="3373452"/>
                </a:lnTo>
                <a:lnTo>
                  <a:pt x="2567707"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916145" y="8006022"/>
            <a:ext cx="2582789" cy="3393268"/>
          </a:xfrm>
          <a:custGeom>
            <a:avLst/>
            <a:gdLst/>
            <a:ahLst/>
            <a:cxnLst/>
            <a:rect l="l" t="t" r="r" b="b"/>
            <a:pathLst>
              <a:path w="2582789" h="3393268">
                <a:moveTo>
                  <a:pt x="0" y="3393268"/>
                </a:moveTo>
                <a:lnTo>
                  <a:pt x="2582789" y="3393268"/>
                </a:lnTo>
                <a:lnTo>
                  <a:pt x="2582789" y="0"/>
                </a:lnTo>
                <a:lnTo>
                  <a:pt x="0" y="0"/>
                </a:lnTo>
                <a:lnTo>
                  <a:pt x="0" y="339326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222459" y="6731449"/>
            <a:ext cx="3293290" cy="4326723"/>
          </a:xfrm>
          <a:custGeom>
            <a:avLst/>
            <a:gdLst/>
            <a:ahLst/>
            <a:cxnLst/>
            <a:rect l="l" t="t" r="r" b="b"/>
            <a:pathLst>
              <a:path w="3293290" h="4326723">
                <a:moveTo>
                  <a:pt x="3293289" y="0"/>
                </a:moveTo>
                <a:lnTo>
                  <a:pt x="0" y="0"/>
                </a:lnTo>
                <a:lnTo>
                  <a:pt x="0" y="4326722"/>
                </a:lnTo>
                <a:lnTo>
                  <a:pt x="3293289" y="4326722"/>
                </a:lnTo>
                <a:lnTo>
                  <a:pt x="3293289"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471207" y="1947857"/>
            <a:ext cx="5535937" cy="7754799"/>
            <a:chOff x="0" y="0"/>
            <a:chExt cx="1458025" cy="2042416"/>
          </a:xfrm>
        </p:grpSpPr>
        <p:sp>
          <p:nvSpPr>
            <p:cNvPr id="9" name="Freeform 9"/>
            <p:cNvSpPr/>
            <p:nvPr/>
          </p:nvSpPr>
          <p:spPr>
            <a:xfrm>
              <a:off x="0" y="0"/>
              <a:ext cx="1458025" cy="2042416"/>
            </a:xfrm>
            <a:custGeom>
              <a:avLst/>
              <a:gdLst/>
              <a:ahLst/>
              <a:cxnLst/>
              <a:rect l="l" t="t" r="r" b="b"/>
              <a:pathLst>
                <a:path w="1458025" h="2042416">
                  <a:moveTo>
                    <a:pt x="0" y="0"/>
                  </a:moveTo>
                  <a:lnTo>
                    <a:pt x="1458025" y="0"/>
                  </a:lnTo>
                  <a:lnTo>
                    <a:pt x="1458025" y="2042416"/>
                  </a:lnTo>
                  <a:lnTo>
                    <a:pt x="0" y="2042416"/>
                  </a:lnTo>
                  <a:close/>
                </a:path>
              </a:pathLst>
            </a:custGeom>
            <a:solidFill>
              <a:srgbClr val="CCEB0C"/>
            </a:solidFill>
          </p:spPr>
        </p:sp>
        <p:sp>
          <p:nvSpPr>
            <p:cNvPr id="10" name="TextBox 10"/>
            <p:cNvSpPr txBox="1"/>
            <p:nvPr/>
          </p:nvSpPr>
          <p:spPr>
            <a:xfrm>
              <a:off x="0" y="-38100"/>
              <a:ext cx="1458025" cy="2080516"/>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387613" y="1947857"/>
            <a:ext cx="5504335" cy="7754799"/>
            <a:chOff x="0" y="0"/>
            <a:chExt cx="1449701" cy="2042416"/>
          </a:xfrm>
        </p:grpSpPr>
        <p:sp>
          <p:nvSpPr>
            <p:cNvPr id="12" name="Freeform 12"/>
            <p:cNvSpPr/>
            <p:nvPr/>
          </p:nvSpPr>
          <p:spPr>
            <a:xfrm>
              <a:off x="0" y="0"/>
              <a:ext cx="1449701" cy="2042416"/>
            </a:xfrm>
            <a:custGeom>
              <a:avLst/>
              <a:gdLst/>
              <a:ahLst/>
              <a:cxnLst/>
              <a:rect l="l" t="t" r="r" b="b"/>
              <a:pathLst>
                <a:path w="1449701" h="2042416">
                  <a:moveTo>
                    <a:pt x="0" y="0"/>
                  </a:moveTo>
                  <a:lnTo>
                    <a:pt x="1449701" y="0"/>
                  </a:lnTo>
                  <a:lnTo>
                    <a:pt x="1449701" y="2042416"/>
                  </a:lnTo>
                  <a:lnTo>
                    <a:pt x="0" y="2042416"/>
                  </a:lnTo>
                  <a:close/>
                </a:path>
              </a:pathLst>
            </a:custGeom>
            <a:solidFill>
              <a:srgbClr val="FFDE59"/>
            </a:solidFill>
          </p:spPr>
        </p:sp>
        <p:sp>
          <p:nvSpPr>
            <p:cNvPr id="13" name="TextBox 13"/>
            <p:cNvSpPr txBox="1"/>
            <p:nvPr/>
          </p:nvSpPr>
          <p:spPr>
            <a:xfrm>
              <a:off x="0" y="-38100"/>
              <a:ext cx="1449701" cy="2080516"/>
            </a:xfrm>
            <a:prstGeom prst="rect">
              <a:avLst/>
            </a:prstGeom>
          </p:spPr>
          <p:txBody>
            <a:bodyPr lIns="50800" tIns="50800" rIns="50800" bIns="50800" rtlCol="0" anchor="ctr"/>
            <a:lstStyle/>
            <a:p>
              <a:pPr marL="410209" lvl="1" indent="-205105" algn="ctr">
                <a:lnSpc>
                  <a:spcPts val="2659"/>
                </a:lnSpc>
                <a:spcBef>
                  <a:spcPct val="0"/>
                </a:spcBef>
                <a:buFont typeface="Arial"/>
                <a:buChar char="•"/>
              </a:pPr>
              <a:endParaRPr/>
            </a:p>
          </p:txBody>
        </p:sp>
      </p:grpSp>
      <p:grpSp>
        <p:nvGrpSpPr>
          <p:cNvPr id="14" name="Group 14"/>
          <p:cNvGrpSpPr/>
          <p:nvPr/>
        </p:nvGrpSpPr>
        <p:grpSpPr>
          <a:xfrm>
            <a:off x="12272418" y="1947857"/>
            <a:ext cx="5287453" cy="7754799"/>
            <a:chOff x="0" y="0"/>
            <a:chExt cx="1392580" cy="2042416"/>
          </a:xfrm>
        </p:grpSpPr>
        <p:sp>
          <p:nvSpPr>
            <p:cNvPr id="15" name="Freeform 15"/>
            <p:cNvSpPr/>
            <p:nvPr/>
          </p:nvSpPr>
          <p:spPr>
            <a:xfrm>
              <a:off x="0" y="0"/>
              <a:ext cx="1392580" cy="2042416"/>
            </a:xfrm>
            <a:custGeom>
              <a:avLst/>
              <a:gdLst/>
              <a:ahLst/>
              <a:cxnLst/>
              <a:rect l="l" t="t" r="r" b="b"/>
              <a:pathLst>
                <a:path w="1392580" h="2042416">
                  <a:moveTo>
                    <a:pt x="0" y="0"/>
                  </a:moveTo>
                  <a:lnTo>
                    <a:pt x="1392580" y="0"/>
                  </a:lnTo>
                  <a:lnTo>
                    <a:pt x="1392580" y="2042416"/>
                  </a:lnTo>
                  <a:lnTo>
                    <a:pt x="0" y="2042416"/>
                  </a:lnTo>
                  <a:close/>
                </a:path>
              </a:pathLst>
            </a:custGeom>
            <a:gradFill rotWithShape="1">
              <a:gsLst>
                <a:gs pos="0">
                  <a:srgbClr val="FD1CF4">
                    <a:alpha val="100000"/>
                  </a:srgbClr>
                </a:gs>
                <a:gs pos="100000">
                  <a:srgbClr val="004EFF">
                    <a:alpha val="100000"/>
                  </a:srgbClr>
                </a:gs>
              </a:gsLst>
              <a:lin ang="2700000"/>
            </a:gradFill>
          </p:spPr>
        </p:sp>
        <p:sp>
          <p:nvSpPr>
            <p:cNvPr id="16" name="TextBox 16"/>
            <p:cNvSpPr txBox="1"/>
            <p:nvPr/>
          </p:nvSpPr>
          <p:spPr>
            <a:xfrm>
              <a:off x="0" y="-38100"/>
              <a:ext cx="1392580" cy="2080516"/>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1774396" y="2349772"/>
            <a:ext cx="2929557" cy="652486"/>
          </a:xfrm>
          <a:prstGeom prst="rect">
            <a:avLst/>
          </a:prstGeom>
        </p:spPr>
        <p:txBody>
          <a:bodyPr wrap="square" lIns="0" tIns="0" rIns="0" bIns="0" rtlCol="0" anchor="t">
            <a:spAutoFit/>
          </a:bodyPr>
          <a:lstStyle/>
          <a:p>
            <a:pPr algn="ctr">
              <a:lnSpc>
                <a:spcPts val="5919"/>
              </a:lnSpc>
              <a:spcBef>
                <a:spcPct val="0"/>
              </a:spcBef>
            </a:pPr>
            <a:r>
              <a:rPr lang="en-US" sz="4228" dirty="0">
                <a:solidFill>
                  <a:srgbClr val="000000"/>
                </a:solidFill>
                <a:latin typeface="Barabara"/>
                <a:ea typeface="Barabara"/>
                <a:cs typeface="Barabara"/>
                <a:sym typeface="Barabara"/>
              </a:rPr>
              <a:t>PANDAS</a:t>
            </a:r>
          </a:p>
        </p:txBody>
      </p:sp>
      <p:sp>
        <p:nvSpPr>
          <p:cNvPr id="18" name="TextBox 18"/>
          <p:cNvSpPr txBox="1"/>
          <p:nvPr/>
        </p:nvSpPr>
        <p:spPr>
          <a:xfrm>
            <a:off x="393054" y="3170865"/>
            <a:ext cx="5329782" cy="5360129"/>
          </a:xfrm>
          <a:prstGeom prst="rect">
            <a:avLst/>
          </a:prstGeom>
        </p:spPr>
        <p:txBody>
          <a:bodyPr lIns="0" tIns="0" rIns="0" bIns="0" rtlCol="0" anchor="t">
            <a:spAutoFit/>
          </a:bodyPr>
          <a:lstStyle/>
          <a:p>
            <a:pPr marL="506569" lvl="1" indent="-253285" algn="l">
              <a:lnSpc>
                <a:spcPts val="3284"/>
              </a:lnSpc>
              <a:buFont typeface="Arial"/>
              <a:buChar char="•"/>
            </a:pPr>
            <a:r>
              <a:rPr lang="en-US" sz="2346" b="1">
                <a:solidFill>
                  <a:srgbClr val="000000"/>
                </a:solidFill>
                <a:latin typeface="Alegreya Sans SC Bold"/>
                <a:ea typeface="Alegreya Sans SC Bold"/>
                <a:cs typeface="Alegreya Sans SC Bold"/>
                <a:sym typeface="Alegreya Sans SC Bold"/>
              </a:rPr>
              <a:t>Data Manipulation:. It allows filtering, grouping, and aggregating data to derive meaningful insights.</a:t>
            </a:r>
          </a:p>
          <a:p>
            <a:pPr marL="506569" lvl="1" indent="-253285" algn="l">
              <a:lnSpc>
                <a:spcPts val="3284"/>
              </a:lnSpc>
              <a:buFont typeface="Arial"/>
              <a:buChar char="•"/>
            </a:pPr>
            <a:r>
              <a:rPr lang="en-US" sz="2346" b="1">
                <a:solidFill>
                  <a:srgbClr val="000000"/>
                </a:solidFill>
                <a:latin typeface="Alegreya Sans SC Bold"/>
                <a:ea typeface="Alegreya Sans SC Bold"/>
                <a:cs typeface="Alegreya Sans SC Bold"/>
                <a:sym typeface="Alegreya Sans SC Bold"/>
              </a:rPr>
              <a:t>Handling Missing Data: Pandas' functions handle missing data points effectively, ensuring data quality and preventing biases in the analysis.</a:t>
            </a:r>
          </a:p>
          <a:p>
            <a:pPr marL="506569" lvl="1" indent="-253285" algn="just">
              <a:lnSpc>
                <a:spcPts val="3284"/>
              </a:lnSpc>
              <a:buFont typeface="Arial"/>
              <a:buChar char="•"/>
            </a:pPr>
            <a:r>
              <a:rPr lang="en-US" sz="2346" b="1">
                <a:solidFill>
                  <a:srgbClr val="000000"/>
                </a:solidFill>
                <a:latin typeface="Alegreya Sans SC Bold"/>
                <a:ea typeface="Alegreya Sans SC Bold"/>
                <a:cs typeface="Alegreya Sans SC Bold"/>
                <a:sym typeface="Alegreya Sans SC Bold"/>
              </a:rPr>
              <a:t>Joining and Merging: Pandas is used to combine datasets when additional information, such as customer reviews or hotel amenities, is available separately.</a:t>
            </a:r>
          </a:p>
        </p:txBody>
      </p:sp>
      <p:sp>
        <p:nvSpPr>
          <p:cNvPr id="19" name="TextBox 19"/>
          <p:cNvSpPr txBox="1"/>
          <p:nvPr/>
        </p:nvSpPr>
        <p:spPr>
          <a:xfrm>
            <a:off x="6911827" y="2384997"/>
            <a:ext cx="4165683" cy="652486"/>
          </a:xfrm>
          <a:prstGeom prst="rect">
            <a:avLst/>
          </a:prstGeom>
        </p:spPr>
        <p:txBody>
          <a:bodyPr wrap="square" lIns="0" tIns="0" rIns="0" bIns="0" rtlCol="0" anchor="t">
            <a:spAutoFit/>
          </a:bodyPr>
          <a:lstStyle/>
          <a:p>
            <a:pPr algn="ctr">
              <a:lnSpc>
                <a:spcPts val="5919"/>
              </a:lnSpc>
              <a:spcBef>
                <a:spcPct val="0"/>
              </a:spcBef>
            </a:pPr>
            <a:r>
              <a:rPr lang="en-US" sz="4228" dirty="0" err="1">
                <a:solidFill>
                  <a:srgbClr val="000000"/>
                </a:solidFill>
                <a:latin typeface="Barabara"/>
                <a:ea typeface="Barabara"/>
                <a:cs typeface="Barabara"/>
                <a:sym typeface="Barabara"/>
              </a:rPr>
              <a:t>MATPLOTLiB</a:t>
            </a:r>
            <a:endParaRPr lang="en-US" sz="4228" dirty="0">
              <a:solidFill>
                <a:srgbClr val="000000"/>
              </a:solidFill>
              <a:latin typeface="Barabara"/>
              <a:ea typeface="Barabara"/>
              <a:cs typeface="Barabara"/>
              <a:sym typeface="Barabara"/>
            </a:endParaRPr>
          </a:p>
        </p:txBody>
      </p:sp>
      <p:sp>
        <p:nvSpPr>
          <p:cNvPr id="20" name="TextBox 20"/>
          <p:cNvSpPr txBox="1"/>
          <p:nvPr/>
        </p:nvSpPr>
        <p:spPr>
          <a:xfrm>
            <a:off x="6332736" y="3323265"/>
            <a:ext cx="5329782" cy="4950554"/>
          </a:xfrm>
          <a:prstGeom prst="rect">
            <a:avLst/>
          </a:prstGeom>
        </p:spPr>
        <p:txBody>
          <a:bodyPr lIns="0" tIns="0" rIns="0" bIns="0" rtlCol="0" anchor="t">
            <a:spAutoFit/>
          </a:bodyPr>
          <a:lstStyle/>
          <a:p>
            <a:pPr marL="506569" lvl="1" indent="-253285" algn="l">
              <a:lnSpc>
                <a:spcPts val="3284"/>
              </a:lnSpc>
              <a:buFont typeface="Arial"/>
              <a:buChar char="•"/>
            </a:pPr>
            <a:r>
              <a:rPr lang="en-US" sz="2346" b="1">
                <a:solidFill>
                  <a:srgbClr val="000000"/>
                </a:solidFill>
                <a:latin typeface="Alegreya Sans SC Bold"/>
                <a:ea typeface="Alegreya Sans SC Bold"/>
                <a:cs typeface="Alegreya Sans SC Bold"/>
                <a:sym typeface="Alegreya Sans SC Bold"/>
              </a:rPr>
              <a:t>Data Visualization: Matplotlib allows the creation of various visualizations like line plots, bar charts, and scatter plots to depict booking trends, revenue fluctuations, and customer distribution.</a:t>
            </a:r>
          </a:p>
          <a:p>
            <a:pPr marL="506569" lvl="1" indent="-253285" algn="l">
              <a:lnSpc>
                <a:spcPts val="3284"/>
              </a:lnSpc>
              <a:buFont typeface="Arial"/>
              <a:buChar char="•"/>
            </a:pPr>
            <a:r>
              <a:rPr lang="en-US" sz="2346" b="1">
                <a:solidFill>
                  <a:srgbClr val="000000"/>
                </a:solidFill>
                <a:latin typeface="Alegreya Sans SC Bold"/>
                <a:ea typeface="Alegreya Sans SC Bold"/>
                <a:cs typeface="Alegreya Sans SC Bold"/>
                <a:sym typeface="Alegreya Sans SC Bold"/>
              </a:rPr>
              <a:t>Time Series Analysis: With Matplotlib, time series plots can illustrate booking patterns over specific time intervals, highlighting seasonal variations and trends.</a:t>
            </a:r>
          </a:p>
        </p:txBody>
      </p:sp>
      <p:sp>
        <p:nvSpPr>
          <p:cNvPr id="21" name="TextBox 21"/>
          <p:cNvSpPr txBox="1"/>
          <p:nvPr/>
        </p:nvSpPr>
        <p:spPr>
          <a:xfrm>
            <a:off x="13360844" y="2384997"/>
            <a:ext cx="3010552" cy="652486"/>
          </a:xfrm>
          <a:prstGeom prst="rect">
            <a:avLst/>
          </a:prstGeom>
        </p:spPr>
        <p:txBody>
          <a:bodyPr wrap="square" lIns="0" tIns="0" rIns="0" bIns="0" rtlCol="0" anchor="t">
            <a:spAutoFit/>
          </a:bodyPr>
          <a:lstStyle/>
          <a:p>
            <a:pPr algn="ctr">
              <a:lnSpc>
                <a:spcPts val="5919"/>
              </a:lnSpc>
              <a:spcBef>
                <a:spcPct val="0"/>
              </a:spcBef>
            </a:pPr>
            <a:r>
              <a:rPr lang="en-US" sz="4228" dirty="0">
                <a:solidFill>
                  <a:srgbClr val="000000"/>
                </a:solidFill>
                <a:latin typeface="Barabara"/>
                <a:ea typeface="Barabara"/>
                <a:cs typeface="Barabara"/>
                <a:sym typeface="Barabara"/>
              </a:rPr>
              <a:t>SEABORN</a:t>
            </a:r>
          </a:p>
        </p:txBody>
      </p:sp>
      <p:sp>
        <p:nvSpPr>
          <p:cNvPr id="22" name="TextBox 22"/>
          <p:cNvSpPr txBox="1"/>
          <p:nvPr/>
        </p:nvSpPr>
        <p:spPr>
          <a:xfrm>
            <a:off x="12254174" y="3417805"/>
            <a:ext cx="5223893" cy="4588217"/>
          </a:xfrm>
          <a:prstGeom prst="rect">
            <a:avLst/>
          </a:prstGeom>
        </p:spPr>
        <p:txBody>
          <a:bodyPr lIns="0" tIns="0" rIns="0" bIns="0" rtlCol="0" anchor="t">
            <a:spAutoFit/>
          </a:bodyPr>
          <a:lstStyle/>
          <a:p>
            <a:pPr marL="469759" lvl="1" indent="-234880" algn="l">
              <a:lnSpc>
                <a:spcPts val="3046"/>
              </a:lnSpc>
              <a:buFont typeface="Arial"/>
              <a:buChar char="•"/>
            </a:pPr>
            <a:r>
              <a:rPr lang="en-US" sz="2175" b="1">
                <a:solidFill>
                  <a:srgbClr val="000000"/>
                </a:solidFill>
                <a:latin typeface="Alegreya Sans SC Bold"/>
                <a:ea typeface="Alegreya Sans SC Bold"/>
                <a:cs typeface="Alegreya Sans SC Bold"/>
                <a:sym typeface="Alegreya Sans SC Bold"/>
              </a:rPr>
              <a:t>Enhanced Data Visualization: Seaborn is built on top of Matplotlib and offers more aesthetically pleasing and informative visualizations. It simplifies the creation of complex plots like heatmaps, pair plots, and violin plots.</a:t>
            </a:r>
          </a:p>
          <a:p>
            <a:pPr marL="469759" lvl="1" indent="-234880" algn="l">
              <a:lnSpc>
                <a:spcPts val="3046"/>
              </a:lnSpc>
              <a:buFont typeface="Arial"/>
              <a:buChar char="•"/>
            </a:pPr>
            <a:r>
              <a:rPr lang="en-US" sz="2175" b="1">
                <a:solidFill>
                  <a:srgbClr val="000000"/>
                </a:solidFill>
                <a:latin typeface="Alegreya Sans SC Bold"/>
                <a:ea typeface="Alegreya Sans SC Bold"/>
                <a:cs typeface="Alegreya Sans SC Bold"/>
                <a:sym typeface="Alegreya Sans SC Bold"/>
              </a:rPr>
              <a:t>Categorical Data Visualization: It excels at visualizing categorical data, such as room types or customer nationalities, using bar plots or box plots, which aids in understanding preferences and trends.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894641" y="341378"/>
            <a:ext cx="14750948" cy="1378497"/>
          </a:xfrm>
          <a:prstGeom prst="rect">
            <a:avLst/>
          </a:prstGeom>
        </p:spPr>
        <p:txBody>
          <a:bodyPr lIns="0" tIns="0" rIns="0" bIns="0" rtlCol="0" anchor="t">
            <a:spAutoFit/>
          </a:bodyPr>
          <a:lstStyle/>
          <a:p>
            <a:pPr algn="ctr">
              <a:lnSpc>
                <a:spcPts val="10119"/>
              </a:lnSpc>
              <a:spcBef>
                <a:spcPct val="0"/>
              </a:spcBef>
            </a:pPr>
            <a:r>
              <a:rPr lang="en-US" sz="7228" b="1" dirty="0">
                <a:solidFill>
                  <a:srgbClr val="D7FDFF"/>
                </a:solidFill>
                <a:latin typeface="Alegreya Sans SC Bold"/>
                <a:ea typeface="Alegreya Sans SC Bold"/>
                <a:cs typeface="Alegreya Sans SC Bold"/>
                <a:sym typeface="Alegreya Sans SC Bold"/>
              </a:rPr>
              <a:t>advantages</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642410" y="2229623"/>
            <a:ext cx="15003179" cy="7593425"/>
          </a:xfrm>
          <a:prstGeom prst="rect">
            <a:avLst/>
          </a:prstGeom>
        </p:spPr>
        <p:txBody>
          <a:bodyPr lIns="0" tIns="0" rIns="0" bIns="0" rtlCol="0" anchor="t">
            <a:spAutoFit/>
          </a:bodyPr>
          <a:lstStyle/>
          <a:p>
            <a:pPr algn="l">
              <a:lnSpc>
                <a:spcPts val="3663"/>
              </a:lnSpc>
            </a:pPr>
            <a:r>
              <a:rPr lang="en-US" sz="4000" b="1" dirty="0">
                <a:solidFill>
                  <a:schemeClr val="tx2">
                    <a:lumMod val="20000"/>
                    <a:lumOff val="80000"/>
                  </a:schemeClr>
                </a:solidFill>
                <a:latin typeface="Times New Roman Bold"/>
                <a:ea typeface="Times New Roman Bold"/>
                <a:cs typeface="Times New Roman Bold"/>
                <a:sym typeface="Times New Roman Bold"/>
              </a:rPr>
              <a:t>1.</a:t>
            </a:r>
            <a:r>
              <a:rPr lang="en-US" sz="4000" b="1" dirty="0">
                <a:solidFill>
                  <a:srgbClr val="FFFF00"/>
                </a:solidFill>
                <a:latin typeface="Times New Roman Bold"/>
                <a:ea typeface="Times New Roman Bold"/>
                <a:cs typeface="Times New Roman Bold"/>
                <a:sym typeface="Times New Roman Bold"/>
              </a:rPr>
              <a:t>Massive and Growing Consumer Market:</a:t>
            </a:r>
          </a:p>
          <a:p>
            <a:pPr algn="l">
              <a:lnSpc>
                <a:spcPts val="3663"/>
              </a:lnSpc>
            </a:pPr>
            <a:endParaRPr lang="en-US" sz="4000" b="1" dirty="0">
              <a:solidFill>
                <a:srgbClr val="FFFF00"/>
              </a:solidFill>
              <a:latin typeface="Times New Roman Bold"/>
              <a:ea typeface="Times New Roman Bold"/>
              <a:cs typeface="Times New Roman Bold"/>
              <a:sym typeface="Times New Roman Bold"/>
            </a:endParaRPr>
          </a:p>
          <a:p>
            <a:pPr marL="565031" lvl="1" indent="-282515" algn="l">
              <a:lnSpc>
                <a:spcPts val="3663"/>
              </a:lnSpc>
              <a:buFont typeface="Arial"/>
              <a:buChar char="•"/>
            </a:pPr>
            <a:r>
              <a:rPr lang="en-US" sz="4000" b="1" dirty="0">
                <a:solidFill>
                  <a:srgbClr val="00B0F0"/>
                </a:solidFill>
                <a:latin typeface="Times New Roman Bold"/>
                <a:ea typeface="Times New Roman Bold"/>
                <a:cs typeface="Times New Roman Bold"/>
                <a:sym typeface="Times New Roman Bold"/>
              </a:rPr>
              <a:t>Population Size:</a:t>
            </a:r>
            <a:r>
              <a:rPr lang="en-US" sz="4000" b="1" dirty="0">
                <a:solidFill>
                  <a:schemeClr val="tx2">
                    <a:lumMod val="20000"/>
                    <a:lumOff val="80000"/>
                  </a:schemeClr>
                </a:solidFill>
                <a:latin typeface="Times New Roman Bold"/>
                <a:ea typeface="Times New Roman Bold"/>
                <a:cs typeface="Times New Roman Bold"/>
                <a:sym typeface="Times New Roman Bold"/>
              </a:rPr>
              <a:t> With over 1.4 billion people, India is the world's most populous country, offering an enormous potential customer base for a wide range of goods and services.</a:t>
            </a:r>
          </a:p>
          <a:p>
            <a:pPr marL="282516" lvl="1" algn="l">
              <a:lnSpc>
                <a:spcPts val="3663"/>
              </a:lnSpc>
            </a:pPr>
            <a:endParaRPr lang="en-US" sz="4000" b="1" dirty="0">
              <a:solidFill>
                <a:schemeClr val="tx2">
                  <a:lumMod val="20000"/>
                  <a:lumOff val="80000"/>
                </a:schemeClr>
              </a:solidFill>
              <a:latin typeface="Times New Roman Bold"/>
              <a:ea typeface="Times New Roman Bold"/>
              <a:cs typeface="Times New Roman Bold"/>
              <a:sym typeface="Times New Roman Bold"/>
            </a:endParaRPr>
          </a:p>
          <a:p>
            <a:pPr marL="565031" lvl="1" indent="-282515" algn="l">
              <a:lnSpc>
                <a:spcPts val="3663"/>
              </a:lnSpc>
              <a:buFont typeface="Arial"/>
              <a:buChar char="•"/>
            </a:pPr>
            <a:r>
              <a:rPr lang="en-US" sz="4000" b="1" dirty="0">
                <a:solidFill>
                  <a:srgbClr val="00B0F0"/>
                </a:solidFill>
                <a:latin typeface="Times New Roman Bold"/>
                <a:ea typeface="Times New Roman Bold"/>
                <a:cs typeface="Times New Roman Bold"/>
                <a:sym typeface="Times New Roman Bold"/>
              </a:rPr>
              <a:t>Growing Middle Class</a:t>
            </a:r>
            <a:r>
              <a:rPr lang="en-US" sz="4000" b="1" dirty="0">
                <a:solidFill>
                  <a:schemeClr val="tx2">
                    <a:lumMod val="20000"/>
                    <a:lumOff val="80000"/>
                  </a:schemeClr>
                </a:solidFill>
                <a:latin typeface="Times New Roman Bold"/>
                <a:ea typeface="Times New Roman Bold"/>
                <a:cs typeface="Times New Roman Bold"/>
                <a:sym typeface="Times New Roman Bold"/>
              </a:rPr>
              <a:t>: A rapidly expanding middle class with increasing disposable income is driving consumer spending across various sectors.</a:t>
            </a:r>
          </a:p>
          <a:p>
            <a:pPr marL="282516" lvl="1" algn="l">
              <a:lnSpc>
                <a:spcPts val="3663"/>
              </a:lnSpc>
            </a:pPr>
            <a:endParaRPr lang="en-US" sz="4000" b="1" dirty="0">
              <a:solidFill>
                <a:schemeClr val="tx2">
                  <a:lumMod val="20000"/>
                  <a:lumOff val="80000"/>
                </a:schemeClr>
              </a:solidFill>
              <a:latin typeface="Times New Roman Bold"/>
              <a:ea typeface="Times New Roman Bold"/>
              <a:cs typeface="Times New Roman Bold"/>
              <a:sym typeface="Times New Roman Bold"/>
            </a:endParaRPr>
          </a:p>
          <a:p>
            <a:pPr marL="565031" lvl="1" indent="-282515" algn="l">
              <a:lnSpc>
                <a:spcPts val="3663"/>
              </a:lnSpc>
              <a:buFont typeface="Arial"/>
              <a:buChar char="•"/>
            </a:pPr>
            <a:r>
              <a:rPr lang="en-US" sz="4000" b="1" dirty="0">
                <a:solidFill>
                  <a:srgbClr val="00B0F0"/>
                </a:solidFill>
                <a:latin typeface="Times New Roman Bold"/>
                <a:ea typeface="Times New Roman Bold"/>
                <a:cs typeface="Times New Roman Bold"/>
                <a:sym typeface="Times New Roman Bold"/>
              </a:rPr>
              <a:t>Youthful Demographic</a:t>
            </a:r>
            <a:r>
              <a:rPr lang="en-US" sz="4000" b="1" dirty="0">
                <a:solidFill>
                  <a:schemeClr val="tx2">
                    <a:lumMod val="20000"/>
                    <a:lumOff val="80000"/>
                  </a:schemeClr>
                </a:solidFill>
                <a:latin typeface="Times New Roman Bold"/>
                <a:ea typeface="Times New Roman Bold"/>
                <a:cs typeface="Times New Roman Bold"/>
                <a:sym typeface="Times New Roman Bold"/>
              </a:rPr>
              <a:t>: India has a significant "demographic dividend" with a large young, working-age population, contributing to both a robust workforce and a dynamic consumer base.</a:t>
            </a:r>
          </a:p>
          <a:p>
            <a:pPr algn="l">
              <a:lnSpc>
                <a:spcPts val="3663"/>
              </a:lnSpc>
            </a:pPr>
            <a:endParaRPr lang="en-US" sz="4000" b="1" dirty="0">
              <a:solidFill>
                <a:srgbClr val="D7FDFF"/>
              </a:solidFill>
              <a:latin typeface="Times New Roman Bold"/>
              <a:ea typeface="Times New Roman Bold"/>
              <a:cs typeface="Times New Roman Bold"/>
              <a:sym typeface="Times New Roman Bold"/>
            </a:endParaRPr>
          </a:p>
          <a:p>
            <a:pPr algn="l">
              <a:lnSpc>
                <a:spcPts val="3663"/>
              </a:lnSpc>
              <a:spcBef>
                <a:spcPct val="0"/>
              </a:spcBef>
            </a:pPr>
            <a:endParaRPr lang="en-US" sz="4000" b="1" dirty="0">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rot="5400000" flipV="1">
            <a:off x="-5296803" y="3717454"/>
            <a:ext cx="10287000" cy="2852093"/>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808545" y="3015319"/>
            <a:ext cx="15083219" cy="5695470"/>
          </a:xfrm>
          <a:prstGeom prst="rect">
            <a:avLst/>
          </a:prstGeom>
        </p:spPr>
        <p:txBody>
          <a:bodyPr wrap="square" lIns="0" tIns="0" rIns="0" bIns="0" rtlCol="0" anchor="t">
            <a:spAutoFit/>
          </a:bodyPr>
          <a:lstStyle/>
          <a:p>
            <a:pPr algn="l">
              <a:lnSpc>
                <a:spcPts val="3663"/>
              </a:lnSpc>
            </a:pPr>
            <a:r>
              <a:rPr lang="en-US" sz="4000" b="1" dirty="0">
                <a:solidFill>
                  <a:srgbClr val="FFFF00"/>
                </a:solidFill>
                <a:latin typeface="Times New Roman Bold"/>
                <a:ea typeface="Times New Roman Bold"/>
                <a:cs typeface="Times New Roman Bold"/>
                <a:sym typeface="Times New Roman Bold"/>
              </a:rPr>
              <a:t>2.Strong Economic Growth:</a:t>
            </a:r>
          </a:p>
          <a:p>
            <a:pPr algn="l">
              <a:lnSpc>
                <a:spcPts val="3663"/>
              </a:lnSpc>
            </a:pPr>
            <a:endParaRPr lang="en-US" sz="4000" b="1" dirty="0">
              <a:solidFill>
                <a:srgbClr val="FFFF00"/>
              </a:solidFill>
              <a:latin typeface="Times New Roman Bold"/>
              <a:ea typeface="Times New Roman Bold"/>
              <a:cs typeface="Times New Roman Bold"/>
              <a:sym typeface="Times New Roman Bold"/>
            </a:endParaRPr>
          </a:p>
          <a:p>
            <a:pPr marL="565031" lvl="1" indent="-282515" algn="l">
              <a:lnSpc>
                <a:spcPts val="3663"/>
              </a:lnSpc>
              <a:buFont typeface="Arial"/>
              <a:buChar char="•"/>
            </a:pPr>
            <a:r>
              <a:rPr lang="en-US" sz="4000" b="1" dirty="0">
                <a:solidFill>
                  <a:srgbClr val="00B0F0"/>
                </a:solidFill>
                <a:latin typeface="Times New Roman Bold"/>
                <a:ea typeface="Times New Roman Bold"/>
                <a:cs typeface="Times New Roman Bold"/>
                <a:sym typeface="Times New Roman Bold"/>
              </a:rPr>
              <a:t>Fastest-Growing Major Economy</a:t>
            </a:r>
            <a:r>
              <a:rPr lang="en-US" sz="4000" b="1" dirty="0">
                <a:solidFill>
                  <a:srgbClr val="D7FDFF"/>
                </a:solidFill>
                <a:latin typeface="Times New Roman Bold"/>
                <a:ea typeface="Times New Roman Bold"/>
                <a:cs typeface="Times New Roman Bold"/>
                <a:sym typeface="Times New Roman Bold"/>
              </a:rPr>
              <a:t>: India has consistently been one of the fastest-growing major economies globally, with robust GDP growth rates. This signals a dynamic economic environment and potential for high returns.</a:t>
            </a:r>
          </a:p>
          <a:p>
            <a:pPr marL="282516" lvl="1" algn="l">
              <a:lnSpc>
                <a:spcPts val="3663"/>
              </a:lnSpc>
            </a:pPr>
            <a:endParaRPr lang="en-US" sz="4000" b="1" dirty="0">
              <a:solidFill>
                <a:srgbClr val="D7FDFF"/>
              </a:solidFill>
              <a:latin typeface="Times New Roman Bold"/>
              <a:ea typeface="Times New Roman Bold"/>
              <a:cs typeface="Times New Roman Bold"/>
              <a:sym typeface="Times New Roman Bold"/>
            </a:endParaRPr>
          </a:p>
          <a:p>
            <a:pPr marL="565031" lvl="1" indent="-282515" algn="l">
              <a:lnSpc>
                <a:spcPts val="3663"/>
              </a:lnSpc>
              <a:buFont typeface="Arial"/>
              <a:buChar char="•"/>
            </a:pPr>
            <a:r>
              <a:rPr lang="en-US" sz="4000" b="1" dirty="0">
                <a:solidFill>
                  <a:srgbClr val="00B0F0"/>
                </a:solidFill>
                <a:latin typeface="Times New Roman Bold"/>
                <a:ea typeface="Times New Roman Bold"/>
                <a:cs typeface="Times New Roman Bold"/>
                <a:sym typeface="Times New Roman Bold"/>
              </a:rPr>
              <a:t>Macroeconomic</a:t>
            </a:r>
            <a:r>
              <a:rPr lang="en-US" sz="4000" b="1" dirty="0">
                <a:solidFill>
                  <a:srgbClr val="D7FDFF"/>
                </a:solidFill>
                <a:latin typeface="Times New Roman Bold"/>
                <a:ea typeface="Times New Roman Bold"/>
                <a:cs typeface="Times New Roman Bold"/>
                <a:sym typeface="Times New Roman Bold"/>
              </a:rPr>
              <a:t> </a:t>
            </a:r>
            <a:r>
              <a:rPr lang="en-US" sz="4000" b="1" dirty="0">
                <a:solidFill>
                  <a:srgbClr val="00B0F0"/>
                </a:solidFill>
                <a:latin typeface="Times New Roman Bold"/>
                <a:ea typeface="Times New Roman Bold"/>
                <a:cs typeface="Times New Roman Bold"/>
                <a:sym typeface="Times New Roman Bold"/>
              </a:rPr>
              <a:t>Stability</a:t>
            </a:r>
            <a:r>
              <a:rPr lang="en-US" sz="4000" b="1" dirty="0">
                <a:solidFill>
                  <a:srgbClr val="D7FDFF"/>
                </a:solidFill>
                <a:latin typeface="Times New Roman Bold"/>
                <a:ea typeface="Times New Roman Bold"/>
                <a:cs typeface="Times New Roman Bold"/>
                <a:sym typeface="Times New Roman Bold"/>
              </a:rPr>
              <a:t>: The country has achieved a high macroeconomic stability ranking due to a robust democracy, structural reforms, and increasing government and private investment.</a:t>
            </a:r>
          </a:p>
          <a:p>
            <a:pPr algn="l">
              <a:lnSpc>
                <a:spcPts val="3663"/>
              </a:lnSpc>
              <a:spcBef>
                <a:spcPct val="0"/>
              </a:spcBef>
            </a:pPr>
            <a:endParaRPr lang="en-US" sz="4000" b="1" dirty="0">
              <a:solidFill>
                <a:srgbClr val="D7FDFF"/>
              </a:solidFill>
              <a:latin typeface="Times New Roman Bold"/>
              <a:ea typeface="Times New Roman Bold"/>
              <a:cs typeface="Times New Roman Bold"/>
              <a:sym typeface="Times New Roman Bold"/>
            </a:endParaRPr>
          </a:p>
        </p:txBody>
      </p:sp>
      <p:sp>
        <p:nvSpPr>
          <p:cNvPr id="9" name="Freeform 4">
            <a:extLst>
              <a:ext uri="{FF2B5EF4-FFF2-40B4-BE49-F238E27FC236}">
                <a16:creationId xmlns:a16="http://schemas.microsoft.com/office/drawing/2014/main" id="{59F84487-AAF6-F541-5E75-3D6BA1E316A1}"/>
              </a:ext>
              <a:ext uri="{C183D7F6-B498-43B3-948B-1728B52AA6E4}">
                <adec:decorative xmlns:adec="http://schemas.microsoft.com/office/drawing/2017/decorative" val="1"/>
              </a:ext>
            </a:extLst>
          </p:cNvPr>
          <p:cNvSpPr/>
          <p:nvPr/>
        </p:nvSpPr>
        <p:spPr>
          <a:xfrm rot="5400000" flipV="1">
            <a:off x="13039658" y="3571126"/>
            <a:ext cx="10287002" cy="3144752"/>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608329" y="-1604354"/>
            <a:ext cx="3274057" cy="4301455"/>
          </a:xfrm>
          <a:custGeom>
            <a:avLst/>
            <a:gdLst/>
            <a:ahLst/>
            <a:cxnLst/>
            <a:rect l="l" t="t" r="r" b="b"/>
            <a:pathLst>
              <a:path w="3274057" h="4301455">
                <a:moveTo>
                  <a:pt x="3274058" y="0"/>
                </a:moveTo>
                <a:lnTo>
                  <a:pt x="0" y="0"/>
                </a:lnTo>
                <a:lnTo>
                  <a:pt x="0" y="4301455"/>
                </a:lnTo>
                <a:lnTo>
                  <a:pt x="3274058" y="4301455"/>
                </a:lnTo>
                <a:lnTo>
                  <a:pt x="327405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68526" y="965333"/>
            <a:ext cx="14750948" cy="1176604"/>
          </a:xfrm>
          <a:prstGeom prst="rect">
            <a:avLst/>
          </a:prstGeom>
        </p:spPr>
        <p:txBody>
          <a:bodyPr lIns="0" tIns="0" rIns="0" bIns="0" rtlCol="0" anchor="t">
            <a:spAutoFit/>
          </a:bodyPr>
          <a:lstStyle/>
          <a:p>
            <a:pPr algn="ctr">
              <a:lnSpc>
                <a:spcPts val="10119"/>
              </a:lnSpc>
              <a:spcBef>
                <a:spcPct val="0"/>
              </a:spcBef>
            </a:pPr>
            <a:r>
              <a:rPr lang="en-US" sz="8000" b="1" dirty="0">
                <a:solidFill>
                  <a:srgbClr val="D7FDFF"/>
                </a:solidFill>
                <a:latin typeface="Alegreya Sans SC Bold"/>
                <a:ea typeface="Alegreya Sans SC Bold"/>
                <a:cs typeface="Alegreya Sans SC Bold"/>
                <a:sym typeface="Alegreya Sans SC Bold"/>
              </a:rPr>
              <a:t>conclusion</a:t>
            </a:r>
          </a:p>
        </p:txBody>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181658" y="-1379710"/>
            <a:ext cx="2567706" cy="3373451"/>
          </a:xfrm>
          <a:custGeom>
            <a:avLst/>
            <a:gdLst/>
            <a:ahLst/>
            <a:cxnLst/>
            <a:rect l="l" t="t" r="r" b="b"/>
            <a:pathLst>
              <a:path w="2567706" h="3373451">
                <a:moveTo>
                  <a:pt x="0" y="3373451"/>
                </a:moveTo>
                <a:lnTo>
                  <a:pt x="2567706" y="3373451"/>
                </a:lnTo>
                <a:lnTo>
                  <a:pt x="2567706" y="0"/>
                </a:lnTo>
                <a:lnTo>
                  <a:pt x="0" y="0"/>
                </a:lnTo>
                <a:lnTo>
                  <a:pt x="0" y="337345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951679" y="8028394"/>
            <a:ext cx="2582789" cy="3393268"/>
          </a:xfrm>
          <a:custGeom>
            <a:avLst/>
            <a:gdLst/>
            <a:ahLst/>
            <a:cxnLst/>
            <a:rect l="l" t="t" r="r" b="b"/>
            <a:pathLst>
              <a:path w="2582789" h="3393268">
                <a:moveTo>
                  <a:pt x="0" y="3393267"/>
                </a:moveTo>
                <a:lnTo>
                  <a:pt x="2582790" y="3393267"/>
                </a:lnTo>
                <a:lnTo>
                  <a:pt x="2582790"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243074" y="7094939"/>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753532" y="3161059"/>
            <a:ext cx="17309460" cy="5880777"/>
          </a:xfrm>
          <a:prstGeom prst="rect">
            <a:avLst/>
          </a:prstGeom>
        </p:spPr>
        <p:txBody>
          <a:bodyPr lIns="0" tIns="0" rIns="0" bIns="0" rtlCol="0" anchor="t">
            <a:spAutoFit/>
          </a:bodyPr>
          <a:lstStyle/>
          <a:p>
            <a:pPr algn="l">
              <a:lnSpc>
                <a:spcPts val="4227"/>
              </a:lnSpc>
            </a:pPr>
            <a:r>
              <a:rPr lang="en-US" sz="4000" b="1" dirty="0">
                <a:solidFill>
                  <a:srgbClr val="D7FDFF"/>
                </a:solidFill>
                <a:latin typeface="Times New Roman Bold"/>
                <a:ea typeface="Times New Roman Bold"/>
                <a:cs typeface="Times New Roman Bold"/>
                <a:sym typeface="Times New Roman Bold"/>
              </a:rPr>
              <a:t>The Indian job market is dynamic and holds immense promise. To fully capitalize on its demographic dividend and sustain its economic growth trajectory, a multi-faceted approach is critical. This includes:</a:t>
            </a:r>
          </a:p>
          <a:p>
            <a:pPr algn="l">
              <a:lnSpc>
                <a:spcPts val="4227"/>
              </a:lnSpc>
            </a:pPr>
            <a:endParaRPr lang="en-US" sz="4000" b="1" dirty="0">
              <a:solidFill>
                <a:srgbClr val="D7FDFF"/>
              </a:solidFill>
              <a:latin typeface="Times New Roman Bold"/>
              <a:ea typeface="Times New Roman Bold"/>
              <a:cs typeface="Times New Roman Bold"/>
              <a:sym typeface="Times New Roman Bold"/>
            </a:endParaRPr>
          </a:p>
          <a:p>
            <a:pPr marL="651887" lvl="1" indent="-325944" algn="l">
              <a:lnSpc>
                <a:spcPts val="4227"/>
              </a:lnSpc>
              <a:buFont typeface="Arial"/>
              <a:buChar char="•"/>
            </a:pPr>
            <a:r>
              <a:rPr lang="en-US" sz="4000" b="1" dirty="0">
                <a:solidFill>
                  <a:srgbClr val="FFFF00"/>
                </a:solidFill>
                <a:latin typeface="Times New Roman Bold"/>
                <a:ea typeface="Times New Roman Bold"/>
                <a:cs typeface="Times New Roman Bold"/>
                <a:sym typeface="Times New Roman Bold"/>
              </a:rPr>
              <a:t>Bridging the Skill Gap</a:t>
            </a:r>
            <a:r>
              <a:rPr lang="en-US" sz="4000" b="1" dirty="0">
                <a:solidFill>
                  <a:srgbClr val="D7FDFF"/>
                </a:solidFill>
                <a:latin typeface="Times New Roman Bold"/>
                <a:ea typeface="Times New Roman Bold"/>
                <a:cs typeface="Times New Roman Bold"/>
                <a:sym typeface="Times New Roman Bold"/>
              </a:rPr>
              <a:t>: Continuous investment in industry-aligned vocational training, higher education reforms, and reskilling programs is paramount to ensure the workforce is equipped with future-ready skills, particularly in areas like AI, data science, and green technologies. Public-private partnerships in education and skill development will be crucial.</a:t>
            </a:r>
          </a:p>
          <a:p>
            <a:pPr marL="325943" lvl="1" algn="l">
              <a:lnSpc>
                <a:spcPts val="4227"/>
              </a:lnSpc>
            </a:pPr>
            <a:endParaRPr lang="en-US" sz="4000" b="1" dirty="0">
              <a:solidFill>
                <a:srgbClr val="D7FDFF"/>
              </a:solidFill>
              <a:latin typeface="Times New Roman Bold"/>
              <a:ea typeface="Times New Roman Bold"/>
              <a:cs typeface="Times New Roman Bold"/>
              <a:sym typeface="Times New Roman Bold"/>
            </a:endParaRPr>
          </a:p>
          <a:p>
            <a:pPr algn="l">
              <a:lnSpc>
                <a:spcPts val="4227"/>
              </a:lnSpc>
              <a:spcBef>
                <a:spcPct val="0"/>
              </a:spcBef>
            </a:pPr>
            <a:endParaRPr lang="en-US" sz="3019" b="1" dirty="0">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608329" y="-1604354"/>
            <a:ext cx="3274057" cy="4301455"/>
          </a:xfrm>
          <a:custGeom>
            <a:avLst/>
            <a:gdLst/>
            <a:ahLst/>
            <a:cxnLst/>
            <a:rect l="l" t="t" r="r" b="b"/>
            <a:pathLst>
              <a:path w="3274057" h="4301455">
                <a:moveTo>
                  <a:pt x="3274058" y="0"/>
                </a:moveTo>
                <a:lnTo>
                  <a:pt x="0" y="0"/>
                </a:lnTo>
                <a:lnTo>
                  <a:pt x="0" y="4301455"/>
                </a:lnTo>
                <a:lnTo>
                  <a:pt x="3274058" y="4301455"/>
                </a:lnTo>
                <a:lnTo>
                  <a:pt x="327405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a:off x="0" y="9100008"/>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flipV="1">
            <a:off x="1181658" y="-1379710"/>
            <a:ext cx="2567706" cy="3373451"/>
          </a:xfrm>
          <a:custGeom>
            <a:avLst/>
            <a:gdLst/>
            <a:ahLst/>
            <a:cxnLst/>
            <a:rect l="l" t="t" r="r" b="b"/>
            <a:pathLst>
              <a:path w="2567706" h="3373451">
                <a:moveTo>
                  <a:pt x="0" y="3373451"/>
                </a:moveTo>
                <a:lnTo>
                  <a:pt x="2567706" y="3373451"/>
                </a:lnTo>
                <a:lnTo>
                  <a:pt x="2567706" y="0"/>
                </a:lnTo>
                <a:lnTo>
                  <a:pt x="0" y="0"/>
                </a:lnTo>
                <a:lnTo>
                  <a:pt x="0" y="337345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C183D7F6-B498-43B3-948B-1728B52AA6E4}">
                <adec:decorative xmlns:adec="http://schemas.microsoft.com/office/drawing/2017/decorative" val="1"/>
              </a:ext>
            </a:extLst>
          </p:cNvPr>
          <p:cNvSpPr/>
          <p:nvPr/>
        </p:nvSpPr>
        <p:spPr>
          <a:xfrm rot="-10800000" flipV="1">
            <a:off x="14951679" y="8028394"/>
            <a:ext cx="2582789" cy="3393268"/>
          </a:xfrm>
          <a:custGeom>
            <a:avLst/>
            <a:gdLst/>
            <a:ahLst/>
            <a:cxnLst/>
            <a:rect l="l" t="t" r="r" b="b"/>
            <a:pathLst>
              <a:path w="2582789" h="3393268">
                <a:moveTo>
                  <a:pt x="0" y="3393267"/>
                </a:moveTo>
                <a:lnTo>
                  <a:pt x="2582790" y="3393267"/>
                </a:lnTo>
                <a:lnTo>
                  <a:pt x="2582790"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C183D7F6-B498-43B3-948B-1728B52AA6E4}">
                <adec:decorative xmlns:adec="http://schemas.microsoft.com/office/drawing/2017/decorative" val="1"/>
              </a:ext>
            </a:extLst>
          </p:cNvPr>
          <p:cNvSpPr/>
          <p:nvPr/>
        </p:nvSpPr>
        <p:spPr>
          <a:xfrm flipH="1">
            <a:off x="16243074" y="7094939"/>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489270" y="3249992"/>
            <a:ext cx="17309460" cy="4847481"/>
          </a:xfrm>
          <a:prstGeom prst="rect">
            <a:avLst/>
          </a:prstGeom>
        </p:spPr>
        <p:txBody>
          <a:bodyPr lIns="0" tIns="0" rIns="0" bIns="0" rtlCol="0" anchor="t">
            <a:spAutoFit/>
          </a:bodyPr>
          <a:lstStyle/>
          <a:p>
            <a:pPr marL="651887" lvl="1" indent="-325944" algn="l">
              <a:lnSpc>
                <a:spcPts val="4227"/>
              </a:lnSpc>
              <a:buFont typeface="Arial"/>
              <a:buChar char="•"/>
            </a:pPr>
            <a:r>
              <a:rPr lang="en-US" sz="4000" b="1" dirty="0">
                <a:solidFill>
                  <a:srgbClr val="FFFF00"/>
                </a:solidFill>
                <a:latin typeface="Times New Roman Bold"/>
                <a:ea typeface="Times New Roman Bold"/>
                <a:cs typeface="Times New Roman Bold"/>
                <a:sym typeface="Times New Roman Bold"/>
              </a:rPr>
              <a:t>Formalization and Social Security</a:t>
            </a:r>
            <a:r>
              <a:rPr lang="en-US" sz="4000" b="1" dirty="0">
                <a:solidFill>
                  <a:srgbClr val="D7FDFF"/>
                </a:solidFill>
                <a:latin typeface="Times New Roman Bold"/>
                <a:ea typeface="Times New Roman Bold"/>
                <a:cs typeface="Times New Roman Bold"/>
                <a:sym typeface="Times New Roman Bold"/>
              </a:rPr>
              <a:t>: Efforts to formalize the economy, provide social security nets, and improve working conditions in the informal sector are essential for inclusive growth and better quality jobs.</a:t>
            </a:r>
          </a:p>
          <a:p>
            <a:pPr marL="325943" lvl="1" algn="l">
              <a:lnSpc>
                <a:spcPts val="4227"/>
              </a:lnSpc>
            </a:pPr>
            <a:endParaRPr lang="en-US" sz="4000" b="1" dirty="0">
              <a:solidFill>
                <a:srgbClr val="D7FDFF"/>
              </a:solidFill>
              <a:latin typeface="Times New Roman Bold"/>
              <a:ea typeface="Times New Roman Bold"/>
              <a:cs typeface="Times New Roman Bold"/>
              <a:sym typeface="Times New Roman Bold"/>
            </a:endParaRPr>
          </a:p>
          <a:p>
            <a:pPr marL="325943" lvl="1" algn="l">
              <a:lnSpc>
                <a:spcPts val="4227"/>
              </a:lnSpc>
            </a:pPr>
            <a:endParaRPr lang="en-US" sz="4000" b="1" dirty="0">
              <a:solidFill>
                <a:srgbClr val="D7FDFF"/>
              </a:solidFill>
              <a:latin typeface="Times New Roman Bold"/>
              <a:ea typeface="Times New Roman Bold"/>
              <a:cs typeface="Times New Roman Bold"/>
              <a:sym typeface="Times New Roman Bold"/>
            </a:endParaRPr>
          </a:p>
          <a:p>
            <a:pPr marL="651887" lvl="1" indent="-325944" algn="l">
              <a:lnSpc>
                <a:spcPts val="4227"/>
              </a:lnSpc>
              <a:buFont typeface="Arial"/>
              <a:buChar char="•"/>
            </a:pPr>
            <a:r>
              <a:rPr lang="en-US" sz="4000" b="1" dirty="0">
                <a:solidFill>
                  <a:srgbClr val="FFFF00"/>
                </a:solidFill>
                <a:latin typeface="Times New Roman Bold"/>
                <a:ea typeface="Times New Roman Bold"/>
                <a:cs typeface="Times New Roman Bold"/>
                <a:sym typeface="Times New Roman Bold"/>
              </a:rPr>
              <a:t>Promoting Entrepreneurship and Innovation</a:t>
            </a:r>
            <a:r>
              <a:rPr lang="en-US" sz="4000" b="1" dirty="0">
                <a:solidFill>
                  <a:srgbClr val="D7FDFF"/>
                </a:solidFill>
                <a:latin typeface="Times New Roman Bold"/>
                <a:ea typeface="Times New Roman Bold"/>
                <a:cs typeface="Times New Roman Bold"/>
                <a:sym typeface="Times New Roman Bold"/>
              </a:rPr>
              <a:t>: Fostering a vibrant startup ecosystem, coupled with support for MSMEs, can generate a significant number of jobs and encourage self-employment.</a:t>
            </a:r>
          </a:p>
          <a:p>
            <a:pPr algn="l">
              <a:lnSpc>
                <a:spcPts val="4227"/>
              </a:lnSpc>
              <a:spcBef>
                <a:spcPct val="0"/>
              </a:spcBef>
            </a:pPr>
            <a:endParaRPr lang="en-US" sz="4000" b="1" dirty="0">
              <a:solidFill>
                <a:srgbClr val="D7FDFF"/>
              </a:solidFill>
              <a:latin typeface="Times New Roman Bold"/>
              <a:ea typeface="Times New Roman Bold"/>
              <a:cs typeface="Times New Roman Bold"/>
              <a:sym typeface="Times New Roman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338535" y="723900"/>
            <a:ext cx="5249238" cy="9220200"/>
          </a:xfrm>
          <a:custGeom>
            <a:avLst/>
            <a:gdLst/>
            <a:ahLst/>
            <a:cxnLst/>
            <a:rect l="l" t="t" r="r" b="b"/>
            <a:pathLst>
              <a:path w="5249238" h="6896447">
                <a:moveTo>
                  <a:pt x="0" y="0"/>
                </a:moveTo>
                <a:lnTo>
                  <a:pt x="5249238" y="0"/>
                </a:lnTo>
                <a:lnTo>
                  <a:pt x="5249238" y="6896447"/>
                </a:lnTo>
                <a:lnTo>
                  <a:pt x="0" y="68964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a:extLst>
              <a:ext uri="{C183D7F6-B498-43B3-948B-1728B52AA6E4}">
                <adec:decorative xmlns:adec="http://schemas.microsoft.com/office/drawing/2017/decorative" val="1"/>
              </a:ext>
            </a:extLst>
          </p:cNvPr>
          <p:cNvSpPr/>
          <p:nvPr/>
        </p:nvSpPr>
        <p:spPr>
          <a:xfrm rot="-10800000">
            <a:off x="-292262" y="10885"/>
            <a:ext cx="5208407" cy="8790214"/>
          </a:xfrm>
          <a:custGeom>
            <a:avLst/>
            <a:gdLst/>
            <a:ahLst/>
            <a:cxnLst/>
            <a:rect l="l" t="t" r="r" b="b"/>
            <a:pathLst>
              <a:path w="5208407" h="6842803">
                <a:moveTo>
                  <a:pt x="0" y="0"/>
                </a:moveTo>
                <a:lnTo>
                  <a:pt x="5208407" y="0"/>
                </a:lnTo>
                <a:lnTo>
                  <a:pt x="5208407" y="6842803"/>
                </a:lnTo>
                <a:lnTo>
                  <a:pt x="0" y="68428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C183D7F6-B498-43B3-948B-1728B52AA6E4}">
                <adec:decorative xmlns:adec="http://schemas.microsoft.com/office/drawing/2017/decorative" val="1"/>
              </a:ext>
            </a:extLst>
          </p:cNvPr>
          <p:cNvSpPr/>
          <p:nvPr/>
        </p:nvSpPr>
        <p:spPr>
          <a:xfrm>
            <a:off x="4921589" y="3557484"/>
            <a:ext cx="13366411" cy="3043429"/>
          </a:xfrm>
          <a:custGeom>
            <a:avLst/>
            <a:gdLst/>
            <a:ahLst/>
            <a:cxnLst/>
            <a:rect l="l" t="t" r="r" b="b"/>
            <a:pathLst>
              <a:path w="13366411" h="3043429">
                <a:moveTo>
                  <a:pt x="0" y="0"/>
                </a:moveTo>
                <a:lnTo>
                  <a:pt x="13366411" y="0"/>
                </a:lnTo>
                <a:lnTo>
                  <a:pt x="13366411" y="3043429"/>
                </a:lnTo>
                <a:lnTo>
                  <a:pt x="0" y="30434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C183D7F6-B498-43B3-948B-1728B52AA6E4}">
                <adec:decorative xmlns:adec="http://schemas.microsoft.com/office/drawing/2017/decorative" val="1"/>
              </a:ext>
            </a:extLst>
          </p:cNvPr>
          <p:cNvSpPr/>
          <p:nvPr/>
        </p:nvSpPr>
        <p:spPr>
          <a:xfrm>
            <a:off x="13780228" y="-659099"/>
            <a:ext cx="11605199" cy="11605199"/>
          </a:xfrm>
          <a:custGeom>
            <a:avLst/>
            <a:gdLst/>
            <a:ahLst/>
            <a:cxnLst/>
            <a:rect l="l" t="t" r="r" b="b"/>
            <a:pathLst>
              <a:path w="11605199" h="11605199">
                <a:moveTo>
                  <a:pt x="0" y="0"/>
                </a:moveTo>
                <a:lnTo>
                  <a:pt x="11605198" y="0"/>
                </a:lnTo>
                <a:lnTo>
                  <a:pt x="11605198" y="11605198"/>
                </a:lnTo>
                <a:lnTo>
                  <a:pt x="0" y="116051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6315970" y="4223324"/>
            <a:ext cx="7464258" cy="1819867"/>
          </a:xfrm>
          <a:prstGeom prst="rect">
            <a:avLst/>
          </a:prstGeom>
        </p:spPr>
        <p:txBody>
          <a:bodyPr lIns="0" tIns="0" rIns="0" bIns="0" rtlCol="0" anchor="t">
            <a:spAutoFit/>
          </a:bodyPr>
          <a:lstStyle/>
          <a:p>
            <a:pPr algn="l">
              <a:lnSpc>
                <a:spcPts val="11985"/>
              </a:lnSpc>
            </a:pPr>
            <a:r>
              <a:rPr lang="en-US" sz="11866" b="1" dirty="0">
                <a:solidFill>
                  <a:srgbClr val="D7FDFF"/>
                </a:solidFill>
                <a:latin typeface="Alegreya Sans SC Bold"/>
                <a:ea typeface="Alegreya Sans SC Bold"/>
                <a:cs typeface="Alegreya Sans SC Bold"/>
                <a:sym typeface="Alegreya Sans SC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2034</Words>
  <Application>Microsoft Office PowerPoint</Application>
  <PresentationFormat>Custom</PresentationFormat>
  <Paragraphs>187</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Garet</vt:lpstr>
      <vt:lpstr>Times New Roman Bold</vt:lpstr>
      <vt:lpstr>Times New Roman</vt:lpstr>
      <vt:lpstr>Paalalabas Wide</vt:lpstr>
      <vt:lpstr>Barabara</vt:lpstr>
      <vt:lpstr>Alegreya Sans SC Bold</vt:lpstr>
      <vt:lpstr>Gill Sans Display Ultra-Bold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Tosca Black Gradient Abstract Project Presentation</dc:title>
  <dc:creator>sai manoj</dc:creator>
  <cp:lastModifiedBy>sai manoj</cp:lastModifiedBy>
  <cp:revision>3</cp:revision>
  <dcterms:created xsi:type="dcterms:W3CDTF">2006-08-16T00:00:00Z</dcterms:created>
  <dcterms:modified xsi:type="dcterms:W3CDTF">2025-06-30T14:57:58Z</dcterms:modified>
  <dc:identifier>DAGrs_mJ9Fc</dc:identifier>
</cp:coreProperties>
</file>